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1463a38ddb4e63" /><Relationship Type="http://schemas.openxmlformats.org/officeDocument/2006/relationships/extended-properties" Target="/docProps/app.xml" Id="R5595b193134045a5" /><Relationship Type="http://schemas.openxmlformats.org/officeDocument/2006/relationships/officeDocument" Target="/ppt/presentation.xml" Id="R77e894d47c9e4f2e" /></Relationships>
</file>

<file path=ppt/presentation.xml><?xml version="1.0" encoding="utf-8"?>
<p:presentation xmlns:p="http://schemas.openxmlformats.org/presentationml/2006/main">
  <p:sldMasterIdLst>
    <p:sldMasterId xmlns:r="http://schemas.openxmlformats.org/officeDocument/2006/relationships" id="2147483648" r:id="R52808d9649e641b2"/>
  </p:sldMasterIdLst>
  <p:notesMasterIdLst>
    <p:notesMasterId xmlns:r="http://schemas.openxmlformats.org/officeDocument/2006/relationships" r:id="R3779423d37794740"/>
  </p:notesMasterIdLst>
  <p:sldIdLst>
    <p:sldId xmlns:r="http://schemas.openxmlformats.org/officeDocument/2006/relationships" id="256" r:id="R42bd21a23c6249bf"/>
    <p:sldId xmlns:r="http://schemas.openxmlformats.org/officeDocument/2006/relationships" id="257" r:id="Re041ea164f544e9d"/>
    <p:sldId xmlns:r="http://schemas.openxmlformats.org/officeDocument/2006/relationships" id="258" r:id="Rb98a26043a90423d"/>
    <p:sldId xmlns:r="http://schemas.openxmlformats.org/officeDocument/2006/relationships" id="259" r:id="R89b8748316274a49"/>
    <p:sldId xmlns:r="http://schemas.openxmlformats.org/officeDocument/2006/relationships" id="260" r:id="R70e6a78e3ca64cca"/>
    <p:sldId xmlns:r="http://schemas.openxmlformats.org/officeDocument/2006/relationships" id="261" r:id="R12b520c128724de6"/>
    <p:sldId xmlns:r="http://schemas.openxmlformats.org/officeDocument/2006/relationships" id="262" r:id="Ra1a4f6e32bbf44b5"/>
    <p:sldId xmlns:r="http://schemas.openxmlformats.org/officeDocument/2006/relationships" id="263" r:id="Rea53da291ff64c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957d5bbed54927" /><Relationship Type="http://schemas.openxmlformats.org/officeDocument/2006/relationships/slideMaster" Target="/ppt/slideMasters/slideMaster1.xml" Id="R52808d9649e641b2" /><Relationship Type="http://schemas.openxmlformats.org/officeDocument/2006/relationships/notesMaster" Target="/ppt/notesMasters/notesMaster1.xml" Id="R3779423d37794740" /><Relationship Type="http://schemas.openxmlformats.org/officeDocument/2006/relationships/presProps" Target="/ppt/presProps.xml" Id="R7ec949b8eaed4397" /><Relationship Type="http://schemas.openxmlformats.org/officeDocument/2006/relationships/tableStyles" Target="/ppt/tableStyles.xml" Id="R6432a74b01de4d7c" /><Relationship Type="http://schemas.openxmlformats.org/officeDocument/2006/relationships/slide" Target="/ppt/slides/slide1.xml" Id="R42bd21a23c6249bf" /><Relationship Type="http://schemas.openxmlformats.org/officeDocument/2006/relationships/slide" Target="/ppt/slides/slide2.xml" Id="Re041ea164f544e9d" /><Relationship Type="http://schemas.openxmlformats.org/officeDocument/2006/relationships/slide" Target="/ppt/slides/slide3.xml" Id="Rb98a26043a90423d" /><Relationship Type="http://schemas.openxmlformats.org/officeDocument/2006/relationships/slide" Target="/ppt/slides/slide4.xml" Id="R89b8748316274a49" /><Relationship Type="http://schemas.openxmlformats.org/officeDocument/2006/relationships/slide" Target="/ppt/slides/slide5.xml" Id="R70e6a78e3ca64cca" /><Relationship Type="http://schemas.openxmlformats.org/officeDocument/2006/relationships/slide" Target="/ppt/slides/slide6.xml" Id="R12b520c128724de6" /><Relationship Type="http://schemas.openxmlformats.org/officeDocument/2006/relationships/slide" Target="/ppt/slides/slide7.xml" Id="Ra1a4f6e32bbf44b5" /><Relationship Type="http://schemas.openxmlformats.org/officeDocument/2006/relationships/slide" Target="/ppt/slides/slide8.xml" Id="Rea53da291ff64c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60e43d0b9741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54974e7afd48d9" /><Relationship Type="http://schemas.openxmlformats.org/officeDocument/2006/relationships/notesMaster" Target="/ppt/notesMasters/notesMaster1.xml" Id="R8451ff78ab6b49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cdc7c7fc1342be" /><Relationship Type="http://schemas.openxmlformats.org/officeDocument/2006/relationships/notesMaster" Target="/ppt/notesMasters/notesMaster1.xml" Id="R7e19bb6af3684b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d5e680bc0a4d93" /><Relationship Type="http://schemas.openxmlformats.org/officeDocument/2006/relationships/notesMaster" Target="/ppt/notesMasters/notesMaster1.xml" Id="Rb2cfcb52a5474d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32651e00994073" /><Relationship Type="http://schemas.openxmlformats.org/officeDocument/2006/relationships/notesMaster" Target="/ppt/notesMasters/notesMaster1.xml" Id="R154775620cc242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bb1750aa414aba" /><Relationship Type="http://schemas.openxmlformats.org/officeDocument/2006/relationships/notesMaster" Target="/ppt/notesMasters/notesMaster1.xml" Id="Rc412363df95842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a4d75b02db421f" /><Relationship Type="http://schemas.openxmlformats.org/officeDocument/2006/relationships/notesMaster" Target="/ppt/notesMasters/notesMaster1.xml" Id="Re6bd57725fb749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e2a66091804f1a" /><Relationship Type="http://schemas.openxmlformats.org/officeDocument/2006/relationships/notesMaster" Target="/ppt/notesMasters/notesMaster1.xml" Id="Ra520a61c959d4d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77b79f25ac43c3" /><Relationship Type="http://schemas.openxmlformats.org/officeDocument/2006/relationships/notesMaster" Target="/ppt/notesMasters/notesMaster1.xml" Id="R92344e0d01bf49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StockPilot as a small inventory application built to demonstrate the complete software delivery path. The dashboard image is from local seeded demo data; the deployment, CI and monitoring evidence appears later.</a:t>
            </a:r>
          </a:p>
          <a:p xmlns:a="http://schemas.openxmlformats.org/drawingml/2006/main">
            <a:r>
              <a:t/>
            </a:r>
          </a:p>
          <a:p xmlns:a="http://schemas.openxmlformats.org/drawingml/2006/main">
            <a:r>
              <a:t>Evidence/source files: docs/screenshots/local-dashboard-smoke.png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supports product CRUD and stock-in/out/adjust transactions. Quantity is changed through a transaction endpoint so movement history can be retained. The dashboard screenshot shows fictional seeded local data: five products, 87 units, ₹52,713 inventory value and two low-stock alerts.</a:t>
            </a:r>
          </a:p>
          <a:p xmlns:a="http://schemas.openxmlformats.org/drawingml/2006/main">
            <a:r>
              <a:t/>
            </a:r>
          </a:p>
          <a:p xmlns:a="http://schemas.openxmlformats.org/drawingml/2006/main">
            <a:r>
              <a:t>Evidence/source files: docs/screenshots/local-dashboard-smoke.png, backend/app/routers/products.py, backend/app/routers/movements.py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both planes. Runtime: the browser reaches a Traefik load balancer; Ingress routes root traffic to React and /api to FastAPI. FastAPI uses PostgreSQL with durable gp3 storage. A release migration Job runs Alembic before normal application operation. Delivery: GitHub Actions verifies and publishes SHA-tagged images to GHCR; Argo CD watches the repository Helm definition and reconciles the AWS EKS application. Prometheus and Grafana provide monitoring. The screenshot evidence shows successful CI and separately verified healthy Argo CD; the optional GitHub Actions AWS deployment job was skipped, so do not describe that job as successful.</a:t>
            </a:r>
          </a:p>
          <a:p xmlns:a="http://schemas.openxmlformats.org/drawingml/2006/main">
            <a:r>
              <a:t/>
            </a:r>
          </a:p>
          <a:p xmlns:a="http://schemas.openxmlformats.org/drawingml/2006/main">
            <a:r>
              <a:t>Evidence/source files: helm/stockpilot, argocd/, terraform/, docs/screenshots/github_actions.png, docs/screenshots/image(1).png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Actions screenshot is a successful workflow: test and build-scan-publish completed successfully. The deploy-aws job is visibly skipped. Therefore present GitHub-hosted CI/image publishing as verified and AWS deployment as separately performed and verified with Argo CD. SHA-tagged images make a release traceable to a source commit.</a:t>
            </a:r>
          </a:p>
          <a:p xmlns:a="http://schemas.openxmlformats.org/drawingml/2006/main">
            <a:r>
              <a:t/>
            </a:r>
          </a:p>
          <a:p xmlns:a="http://schemas.openxmlformats.org/drawingml/2006/main">
            <a:r>
              <a:t>Evidence/source files: docs/screenshots/github_actions.png, .github/workflows/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terminal capture shows the AWS deployment state after sync: two backend replicas and two frontend replicas are Running, PostgreSQL is Running, the migration Job completed, the gp3 PVC is Bound, and the backend HPA has minimum two, maximum six, with two replicas at roughly 3% CPU against the 60% target. This is healthy deployment evidence, not proof that autoscaling exceeded its minimum.</a:t>
            </a:r>
          </a:p>
          <a:p xmlns:a="http://schemas.openxmlformats.org/drawingml/2006/main">
            <a:r>
              <a:t/>
            </a:r>
          </a:p>
          <a:p xmlns:a="http://schemas.openxmlformats.org/drawingml/2006/main">
            <a:r>
              <a:t>Evidence/source files: docs/screenshots/image(1).png, docs/screenshots/kubectlgetnodesterraform.png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this was not only a successful rollout: the Ingress served the StockPilot dashboard and /api/version returned service StockPilot with commit 9e5b89aefb8f79cccce90c6e12f3ae93c31d5adb. The browser dashboard is empty because this deployed database had no demo seed records; the local demo dashboard on slide 2 shows fictional seed data.</a:t>
            </a:r>
          </a:p>
          <a:p xmlns:a="http://schemas.openxmlformats.org/drawingml/2006/main">
            <a:r>
              <a:t/>
            </a:r>
          </a:p>
          <a:p xmlns:a="http://schemas.openxmlformats.org/drawingml/2006/main">
            <a:r>
              <a:t>Evidence/source files: docs/screenshots/kubernetes synced.png, docs/screenshots/image(2).png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Grafana capture shows request-rate activity peaking around 30 requests/second, p95 latency around 14 ms at the visible peak, no visible 5xx errors, and a CPU response during generated traffic. The Prometheus capture shows targets marked UP on the visible page; it does not clearly expose the StockPilot service target in the screenshot, so describe it as Prometheus target-health evidence rather than claiming a specific target row. HPA remained at two replicas as shown earlier.</a:t>
            </a:r>
          </a:p>
          <a:p xmlns:a="http://schemas.openxmlformats.org/drawingml/2006/main">
            <a:r>
              <a:t/>
            </a:r>
          </a:p>
          <a:p xmlns:a="http://schemas.openxmlformats.org/drawingml/2006/main">
            <a:r>
              <a:t>Evidence/source files: docs/screenshots/grafana.png, docs/screenshots/prometheus.png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verified story and state its boundaries accurately. CI checks and image publication passed. The GitOps application was Synced and Healthy in AWS. Kubernetes workloads and monitoring were verified. The separate deploy-aws GitHub Actions job was skipped in the screenshot. Since the AWS environment was intended to exist only for evidence capture, destroy the stack after the presentation/video and check that billable resources are removed.</a:t>
            </a:r>
          </a:p>
          <a:p xmlns:a="http://schemas.openxmlformats.org/drawingml/2006/main">
            <a:r>
              <a:t/>
            </a:r>
          </a:p>
          <a:p xmlns:a="http://schemas.openxmlformats.org/drawingml/2006/main">
            <a:r>
              <a:t>Evidence/source files: docs/screenshots/github_actions.png, docs/screenshots/image(1).png, docs/screenshots/grafana.png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297a8a126147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a884de28bba474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dbcd6e3a277411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9a9d1b2a6644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25549cd0b94d2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12679809014f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B8AEBB-FB24-4147-BF5B-0BA052F97D2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473EA22-F3C0-4E62-823C-E7D690D5C36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902A91-19AC-49FB-9A40-1DCE3C000E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A67C96-4B70-4260-80C9-664806110F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D6E02ED-0B32-41AB-ACBA-47F9B483012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4526B7-FF7D-427A-A774-92ED871262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CAB4DD-39B5-448E-AD21-8FCE4C406C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F1C571-81BE-4DBB-A42F-8DF6CA67B0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DE54BF-A5F2-4A11-8D8A-F70BE409C5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E39F498-EC38-488C-BFD4-C185078FA41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3fc84046da4f67" /><Relationship Type="http://schemas.openxmlformats.org/officeDocument/2006/relationships/slideLayout" Target="/ppt/slideLayouts/slideLayout1.xml" Id="R63fd0704664c4b05" /><Relationship Type="http://schemas.openxmlformats.org/officeDocument/2006/relationships/slideLayout" Target="/ppt/slideLayouts/slideLayout2.xml" Id="R9d9175cf51574ed6" /><Relationship Type="http://schemas.openxmlformats.org/officeDocument/2006/relationships/slideLayout" Target="/ppt/slideLayouts/slideLayout3.xml" Id="Rbf277dc49dca4d32" /><Relationship Type="http://schemas.openxmlformats.org/officeDocument/2006/relationships/slideLayout" Target="/ppt/slideLayouts/slideLayout4.xml" Id="R42fcf9597b2749f2" /><Relationship Type="http://schemas.openxmlformats.org/officeDocument/2006/relationships/slideLayout" Target="/ppt/slideLayouts/slideLayout5.xml" Id="R6887af89a8ae4504" /><Relationship Type="http://schemas.openxmlformats.org/officeDocument/2006/relationships/slideLayout" Target="/ppt/slideLayouts/slideLayout6.xml" Id="R4e5e1fdef9224a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fd0704664c4b05"/>
    <p:sldLayoutId xmlns:r="http://schemas.openxmlformats.org/officeDocument/2006/relationships" id="2147483650" r:id="R9d9175cf51574ed6"/>
    <p:sldLayoutId xmlns:r="http://schemas.openxmlformats.org/officeDocument/2006/relationships" id="2147483651" r:id="Rbf277dc49dca4d32"/>
    <p:sldLayoutId xmlns:r="http://schemas.openxmlformats.org/officeDocument/2006/relationships" id="2147483652" r:id="R42fcf9597b2749f2"/>
    <p:sldLayoutId xmlns:r="http://schemas.openxmlformats.org/officeDocument/2006/relationships" id="2147483653" r:id="R6887af89a8ae4504"/>
    <p:sldLayoutId xmlns:r="http://schemas.openxmlformats.org/officeDocument/2006/relationships" id="2147483654" r:id="R4e5e1fdef9224a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bcad34d729c4e9d" /><Relationship Type="http://schemas.openxmlformats.org/officeDocument/2006/relationships/image" Target="/ppt/media/image.png" Id="R6f82a0982792412b" /><Relationship Type="http://schemas.openxmlformats.org/officeDocument/2006/relationships/notesSlide" Target="/ppt/notesSlides/notesSlide1.xml" Id="Rf91abb64b0b54c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ae35a997ccd428d" /><Relationship Type="http://schemas.openxmlformats.org/officeDocument/2006/relationships/image" Target="/ppt/media/image2.png" Id="R21664050fa1d445d" /><Relationship Type="http://schemas.openxmlformats.org/officeDocument/2006/relationships/notesSlide" Target="/ppt/notesSlides/notesSlide2.xml" Id="R4d8048c7a73f4a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329a79471ed410e" /><Relationship Type="http://schemas.openxmlformats.org/officeDocument/2006/relationships/notesSlide" Target="/ppt/notesSlides/notesSlide3.xml" Id="R2b886ad5517946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33b71526974242" /><Relationship Type="http://schemas.openxmlformats.org/officeDocument/2006/relationships/image" Target="/ppt/media/image3.png" Id="Rf3ae8097c2324a05" /><Relationship Type="http://schemas.openxmlformats.org/officeDocument/2006/relationships/notesSlide" Target="/ppt/notesSlides/notesSlide4.xml" Id="R2d5fc74f35b94c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19f47d98cd746d9" /><Relationship Type="http://schemas.openxmlformats.org/officeDocument/2006/relationships/image" Target="/ppt/media/image4.png" Id="Rd4383ea3e41f4de1" /><Relationship Type="http://schemas.openxmlformats.org/officeDocument/2006/relationships/notesSlide" Target="/ppt/notesSlides/notesSlide5.xml" Id="Rf593fa66186548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dd2dca8b75e4c99" /><Relationship Type="http://schemas.openxmlformats.org/officeDocument/2006/relationships/image" Target="/ppt/media/image5.png" Id="R40095fce721347c0" /><Relationship Type="http://schemas.openxmlformats.org/officeDocument/2006/relationships/image" Target="/ppt/media/image6.png" Id="Ra6e8328c2d174bdc" /><Relationship Type="http://schemas.openxmlformats.org/officeDocument/2006/relationships/notesSlide" Target="/ppt/notesSlides/notesSlide6.xml" Id="R665b526035674b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1136641ba874f3e" /><Relationship Type="http://schemas.openxmlformats.org/officeDocument/2006/relationships/image" Target="/ppt/media/image7.png" Id="Rbcebf373015e4fc8" /><Relationship Type="http://schemas.openxmlformats.org/officeDocument/2006/relationships/image" Target="/ppt/media/image8.png" Id="R5285e2e765614cde" /><Relationship Type="http://schemas.openxmlformats.org/officeDocument/2006/relationships/notesSlide" Target="/ppt/notesSlides/notesSlide7.xml" Id="Rc3e72416f3e74e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da5350165834314" /><Relationship Type="http://schemas.openxmlformats.org/officeDocument/2006/relationships/notesSlide" Target="/ppt/notesSlides/notesSlide8.xml" Id="Rb1cff721cc6e4e69" /></Relationships>
</file>

<file path=ppt/slides/slide1.xml><?xml version="1.0" encoding="utf-8"?>
<p:sld xmlns:p="http://schemas.openxmlformats.org/presentationml/2006/main">
  <p:cSld>
    <p:bg>
      <p:bgPr>
        <a:solidFill xmlns:a="http://schemas.openxmlformats.org/drawingml/2006/main">
          <a:srgbClr val="102B3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F55C1C-1665-4AFA-B98A-8C79C42595B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67C8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848D0DB-5949-46DD-BE4C-7C06CF761F76}"/>
              </a:ext>
            </a:extLst>
          </p:cNvPr>
          <p:cNvSpPr>
            <a:spLocks xmlns:a="http://schemas.openxmlformats.org/drawingml/2006/main" noGrp="1"/>
          </p:cNvSpPr>
          <p:nvPr/>
        </p:nvSpPr>
        <p:spPr>
          <a:xfrm xmlns:a="http://schemas.openxmlformats.org/drawingml/2006/main">
            <a:off x="647700" y="6858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9ED9D2"/>
                </a:solidFill>
                <a:latin typeface="Arial"/>
                <a:ea typeface="Arial"/>
                <a:cs typeface="Arial"/>
              </a:defRPr>
            </a:defPPr>
          </a:lstStyle>
          <a:p xmlns:a="http://schemas.openxmlformats.org/drawingml/2006/main">
            <a:pPr algn="l">
              <a:lnSpc>
                <a:spcPct val="100000"/>
              </a:lnSpc>
              <a:buNone/>
              <a:defRPr sz="1050" b="1">
                <a:solidFill>
                  <a:srgbClr val="9ED9D2"/>
                </a:solidFill>
                <a:latin typeface="Arial"/>
                <a:ea typeface="Arial"/>
                <a:cs typeface="Arial"/>
              </a:defRPr>
            </a:pPr>
            <a:r>
              <a:rPr sz="1050" b="1">
                <a:solidFill>
                  <a:srgbClr val="9ED9D2"/>
                </a:solidFill>
                <a:latin typeface="Arial"/>
                <a:ea typeface="Arial"/>
                <a:cs typeface="Arial"/>
              </a:rPr>
              <a:t>DEVOPS CAPSTONE  /  2026</a:t>
            </a:r>
          </a:p>
        </p:txBody>
      </p:sp>
      <p:sp>
        <p:nvSpPr>
          <p:cNvPr id="3" name="">
            <a:extLst xmlns:a="http://schemas.openxmlformats.org/drawingml/2006/main">
              <a:ext uri="{FF2B5EF4-FFF2-40B4-BE49-F238E27FC236}">
                <a16:creationId xmlns:a16="http://schemas.microsoft.com/office/drawing/2014/main" id="{7A2DD2D7-2D63-495A-A445-9119808EE1F6}"/>
              </a:ext>
            </a:extLst>
          </p:cNvPr>
          <p:cNvSpPr>
            <a:spLocks xmlns:a="http://schemas.openxmlformats.org/drawingml/2006/main" noGrp="1"/>
          </p:cNvSpPr>
          <p:nvPr/>
        </p:nvSpPr>
        <p:spPr>
          <a:xfrm xmlns:a="http://schemas.openxmlformats.org/drawingml/2006/main">
            <a:off x="647700" y="1257300"/>
            <a:ext cx="4953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050" b="1">
                <a:solidFill>
                  <a:srgbClr val="FFFFFF"/>
                </a:solidFill>
                <a:latin typeface="Arial"/>
                <a:ea typeface="Arial"/>
                <a:cs typeface="Arial"/>
              </a:defRPr>
            </a:defPPr>
          </a:lstStyle>
          <a:p xmlns:a="http://schemas.openxmlformats.org/drawingml/2006/main">
            <a:pPr algn="l">
              <a:lnSpc>
                <a:spcPct val="100000"/>
              </a:lnSpc>
              <a:buNone/>
              <a:defRPr sz="4050" b="1">
                <a:solidFill>
                  <a:srgbClr val="FFFFFF"/>
                </a:solidFill>
                <a:latin typeface="Arial"/>
                <a:ea typeface="Arial"/>
                <a:cs typeface="Arial"/>
              </a:defRPr>
            </a:pPr>
            <a:r>
              <a:rPr sz="4050" b="1">
                <a:solidFill>
                  <a:srgbClr val="FFFFFF"/>
                </a:solidFill>
                <a:latin typeface="Arial"/>
                <a:ea typeface="Arial"/>
                <a:cs typeface="Arial"/>
              </a:rPr>
              <a:t>StockPilot</a:t>
            </a:r>
          </a:p>
        </p:txBody>
      </p:sp>
      <p:sp>
        <p:nvSpPr>
          <p:cNvPr id="4" name="">
            <a:extLst xmlns:a="http://schemas.openxmlformats.org/drawingml/2006/main">
              <a:ext uri="{FF2B5EF4-FFF2-40B4-BE49-F238E27FC236}">
                <a16:creationId xmlns:a16="http://schemas.microsoft.com/office/drawing/2014/main" id="{18313F56-95B5-4CD4-AB12-56AB8FC89318}"/>
              </a:ext>
            </a:extLst>
          </p:cNvPr>
          <p:cNvSpPr>
            <a:spLocks xmlns:a="http://schemas.openxmlformats.org/drawingml/2006/main" noGrp="1"/>
          </p:cNvSpPr>
          <p:nvPr/>
        </p:nvSpPr>
        <p:spPr>
          <a:xfrm xmlns:a="http://schemas.openxmlformats.org/drawingml/2006/main">
            <a:off x="666750" y="217170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0">
                <a:solidFill>
                  <a:srgbClr val="DBE6E7"/>
                </a:solidFill>
                <a:latin typeface="Arial"/>
                <a:ea typeface="Arial"/>
                <a:cs typeface="Arial"/>
              </a:defRPr>
            </a:defPPr>
          </a:lstStyle>
          <a:p xmlns:a="http://schemas.openxmlformats.org/drawingml/2006/main">
            <a:pPr algn="l">
              <a:lnSpc>
                <a:spcPct val="108000"/>
              </a:lnSpc>
              <a:buNone/>
              <a:defRPr sz="2025" b="0">
                <a:solidFill>
                  <a:srgbClr val="DBE6E7"/>
                </a:solidFill>
                <a:latin typeface="Arial"/>
                <a:ea typeface="Arial"/>
                <a:cs typeface="Arial"/>
              </a:defRPr>
            </a:pPr>
            <a:r>
              <a:rPr sz="2025" b="0">
                <a:solidFill>
                  <a:srgbClr val="DBE6E7"/>
                </a:solidFill>
                <a:latin typeface="Arial"/>
                <a:ea typeface="Arial"/>
                <a:cs typeface="Arial"/>
              </a:rPr>
              <a:t>Inventory management with a traceable</a:t>
            </a:r>
          </a:p>
          <a:p xmlns:a="http://schemas.openxmlformats.org/drawingml/2006/main">
            <a:pPr algn="l">
              <a:lnSpc>
                <a:spcPct val="108000"/>
              </a:lnSpc>
              <a:buNone/>
              <a:defRPr sz="2025" b="0">
                <a:solidFill>
                  <a:srgbClr val="DBE6E7"/>
                </a:solidFill>
                <a:latin typeface="Arial"/>
                <a:ea typeface="Arial"/>
                <a:cs typeface="Arial"/>
              </a:defRPr>
            </a:pPr>
            <a:r>
              <a:rPr sz="2025" b="0">
                <a:solidFill>
                  <a:srgbClr val="DBE6E7"/>
                </a:solidFill>
                <a:latin typeface="Arial"/>
                <a:ea typeface="Arial"/>
                <a:cs typeface="Arial"/>
              </a:rPr>
              <a:t>DevOps delivery path</a:t>
            </a:r>
          </a:p>
        </p:txBody>
      </p:sp>
      <p:sp>
        <p:nvSpPr>
          <p:cNvPr id="5" name="">
            <a:extLst xmlns:a="http://schemas.openxmlformats.org/drawingml/2006/main">
              <a:ext uri="{FF2B5EF4-FFF2-40B4-BE49-F238E27FC236}">
                <a16:creationId xmlns:a16="http://schemas.microsoft.com/office/drawing/2014/main" id="{0C39C089-E89B-45A5-8F0B-C198D66530F4}"/>
              </a:ext>
            </a:extLst>
          </p:cNvPr>
          <p:cNvSpPr>
            <a:spLocks xmlns:a="http://schemas.openxmlformats.org/drawingml/2006/main" noGrp="1"/>
          </p:cNvSpPr>
          <p:nvPr/>
        </p:nvSpPr>
        <p:spPr>
          <a:xfrm xmlns:a="http://schemas.openxmlformats.org/drawingml/2006/main">
            <a:off x="666750" y="3371850"/>
            <a:ext cx="609600" cy="38100"/>
          </a:xfrm>
          <a:prstGeom xmlns:a="http://schemas.openxmlformats.org/drawingml/2006/main" prst="rect">
            <a:avLst/>
          </a:prstGeom>
          <a:solidFill xmlns:a="http://schemas.openxmlformats.org/drawingml/2006/main">
            <a:srgbClr val="E9A54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BB54A83-D55E-45A4-8630-C92316140B2F}"/>
              </a:ext>
            </a:extLst>
          </p:cNvPr>
          <p:cNvSpPr>
            <a:spLocks xmlns:a="http://schemas.openxmlformats.org/drawingml/2006/main" noGrp="1"/>
          </p:cNvSpPr>
          <p:nvPr/>
        </p:nvSpPr>
        <p:spPr>
          <a:xfrm xmlns:a="http://schemas.openxmlformats.org/drawingml/2006/main">
            <a:off x="666750" y="3667125"/>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FFFFFF"/>
                </a:solidFill>
                <a:latin typeface="Arial"/>
                <a:ea typeface="Arial"/>
                <a:cs typeface="Arial"/>
              </a:defRPr>
            </a:defPPr>
          </a:lstStyle>
          <a:p xmlns:a="http://schemas.openxmlformats.org/drawingml/2006/main">
            <a:pPr algn="l">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React  •  FastAPI  •  PostgreSQL  •  AWS EKS</a:t>
            </a:r>
          </a:p>
        </p:txBody>
      </p:sp>
      <p:sp>
        <p:nvSpPr>
          <p:cNvPr id="7" name="">
            <a:extLst xmlns:a="http://schemas.openxmlformats.org/drawingml/2006/main">
              <a:ext uri="{FF2B5EF4-FFF2-40B4-BE49-F238E27FC236}">
                <a16:creationId xmlns:a16="http://schemas.microsoft.com/office/drawing/2014/main" id="{4FBA0667-E069-4380-ADB9-88C8EA8B2DB2}"/>
              </a:ext>
            </a:extLst>
          </p:cNvPr>
          <p:cNvSpPr>
            <a:spLocks xmlns:a="http://schemas.openxmlformats.org/drawingml/2006/main" noGrp="1"/>
          </p:cNvSpPr>
          <p:nvPr/>
        </p:nvSpPr>
        <p:spPr>
          <a:xfrm xmlns:a="http://schemas.openxmlformats.org/drawingml/2006/main">
            <a:off x="666750" y="4219575"/>
            <a:ext cx="476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AEC0C4"/>
                </a:solidFill>
                <a:latin typeface="Arial"/>
                <a:ea typeface="Arial"/>
                <a:cs typeface="Arial"/>
              </a:defRPr>
            </a:defPPr>
          </a:lstStyle>
          <a:p xmlns:a="http://schemas.openxmlformats.org/drawingml/2006/main">
            <a:pPr algn="l">
              <a:lnSpc>
                <a:spcPct val="112000"/>
              </a:lnSpc>
              <a:buNone/>
              <a:defRPr sz="1350" b="0">
                <a:solidFill>
                  <a:srgbClr val="AEC0C4"/>
                </a:solidFill>
                <a:latin typeface="Arial"/>
                <a:ea typeface="Arial"/>
                <a:cs typeface="Arial"/>
              </a:defRPr>
            </a:pPr>
            <a:r>
              <a:rPr sz="1350" b="0">
                <a:solidFill>
                  <a:srgbClr val="AEC0C4"/>
                </a:solidFill>
                <a:latin typeface="Arial"/>
                <a:ea typeface="Arial"/>
                <a:cs typeface="Arial"/>
              </a:rPr>
              <a:t>A working inventory app, shipped through CI and GitOps,</a:t>
            </a:r>
          </a:p>
          <a:p xmlns:a="http://schemas.openxmlformats.org/drawingml/2006/main">
            <a:pPr algn="l">
              <a:lnSpc>
                <a:spcPct val="112000"/>
              </a:lnSpc>
              <a:buNone/>
              <a:defRPr sz="1350" b="0">
                <a:solidFill>
                  <a:srgbClr val="AEC0C4"/>
                </a:solidFill>
                <a:latin typeface="Arial"/>
                <a:ea typeface="Arial"/>
                <a:cs typeface="Arial"/>
              </a:defRPr>
            </a:pPr>
            <a:r>
              <a:rPr sz="1350" b="0">
                <a:solidFill>
                  <a:srgbClr val="AEC0C4"/>
                </a:solidFill>
                <a:latin typeface="Arial"/>
                <a:ea typeface="Arial"/>
                <a:cs typeface="Arial"/>
              </a:rPr>
              <a:t>with Kubernetes health and monitoring evidence.</a:t>
            </a:r>
          </a:p>
        </p:txBody>
      </p:sp>
      <p:sp>
        <p:nvSpPr>
          <p:cNvPr id="8" name="screenshot-frame">
            <a:extLst xmlns:a="http://schemas.openxmlformats.org/drawingml/2006/main">
              <a:ext uri="{FF2B5EF4-FFF2-40B4-BE49-F238E27FC236}">
                <a16:creationId xmlns:a16="http://schemas.microsoft.com/office/drawing/2014/main" id="{2BA0D651-3D15-405D-B77B-2787809DB447}"/>
              </a:ext>
            </a:extLst>
          </p:cNvPr>
          <p:cNvSpPr>
            <a:spLocks xmlns:a="http://schemas.openxmlformats.org/drawingml/2006/main" noGrp="1"/>
          </p:cNvSpPr>
          <p:nvPr/>
        </p:nvSpPr>
        <p:spPr>
          <a:xfrm xmlns:a="http://schemas.openxmlformats.org/drawingml/2006/main">
            <a:off x="5981700" y="1066800"/>
            <a:ext cx="5581650" cy="4057650"/>
          </a:xfrm>
          <a:prstGeom xmlns:a="http://schemas.openxmlformats.org/drawingml/2006/main" prst="roundRect">
            <a:avLst>
              <a:gd name="adj" fmla="val 1878"/>
            </a:avLst>
          </a:prstGeom>
          <a:solidFill xmlns:a="http://schemas.openxmlformats.org/drawingml/2006/main">
            <a:srgbClr val="FFFFFF"/>
          </a:solidFill>
          <a:ln xmlns:a="http://schemas.openxmlformats.org/drawingml/2006/main" w="9525">
            <a:solidFill>
              <a:srgbClr val="D8E0DE"/>
            </a:solidFill>
            <a:prstDash val="solid"/>
          </a:ln>
        </p:spPr>
      </p:sp>
      <p:pic>
        <p:nvPicPr>
          <p:cNvPr id="9" name="">
            <a:extLst xmlns:a="http://schemas.openxmlformats.org/drawingml/2006/main">
              <a:ext uri="{FF2B5EF4-FFF2-40B4-BE49-F238E27FC236}">
                <a16:creationId xmlns:a16="http://schemas.microsoft.com/office/drawing/2014/main" id="{ADE1FDE9-AA2A-4D09-88BF-2419A3F93FF0}"/>
              </a:ext>
            </a:extLst>
          </p:cNvPr>
          <p:cNvPicPr>
            <a:picLocks xmlns:a="http://schemas.openxmlformats.org/drawingml/2006/main" noChangeAspect="1"/>
          </p:cNvPicPr>
          <p:nvPr/>
        </p:nvPicPr>
        <p:blipFill>
          <a:blip xmlns:r="http://schemas.openxmlformats.org/officeDocument/2006/relationships" xmlns:a="http://schemas.openxmlformats.org/drawingml/2006/main" r:embed="R6f82a0982792412b"/>
          <a:stretch xmlns:a="http://schemas.openxmlformats.org/drawingml/2006/main"/>
        </p:blipFill>
        <p:spPr>
          <a:xfrm xmlns:a="http://schemas.openxmlformats.org/drawingml/2006/main">
            <a:off x="6974129" y="1104900"/>
            <a:ext cx="3596793" cy="3981450"/>
          </a:xfrm>
          <a:prstGeom xmlns:a="http://schemas.openxmlformats.org/drawingml/2006/main" prst="roundRect">
            <a:avLst>
              <a:gd name="adj" fmla="val 2392"/>
            </a:avLst>
          </a:prstGeom>
        </p:spPr>
      </p:pic>
      <p:sp>
        <p:nvSpPr>
          <p:cNvPr id="10" name="">
            <a:extLst xmlns:a="http://schemas.openxmlformats.org/drawingml/2006/main">
              <a:ext uri="{FF2B5EF4-FFF2-40B4-BE49-F238E27FC236}">
                <a16:creationId xmlns:a16="http://schemas.microsoft.com/office/drawing/2014/main" id="{5C56D85C-157B-42D5-AD50-2092878846A5}"/>
              </a:ext>
            </a:extLst>
          </p:cNvPr>
          <p:cNvSpPr>
            <a:spLocks xmlns:a="http://schemas.openxmlformats.org/drawingml/2006/main" noGrp="1"/>
          </p:cNvSpPr>
          <p:nvPr/>
        </p:nvSpPr>
        <p:spPr>
          <a:xfrm xmlns:a="http://schemas.openxmlformats.org/drawingml/2006/main">
            <a:off x="6115050" y="5210175"/>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0">
                <a:solidFill>
                  <a:srgbClr val="AEC0C4"/>
                </a:solidFill>
                <a:latin typeface="Arial"/>
                <a:ea typeface="Arial"/>
                <a:cs typeface="Arial"/>
              </a:defRPr>
            </a:defPPr>
          </a:lstStyle>
          <a:p xmlns:a="http://schemas.openxmlformats.org/drawingml/2006/main">
            <a:pPr algn="r">
              <a:lnSpc>
                <a:spcPct val="100000"/>
              </a:lnSpc>
              <a:buNone/>
              <a:defRPr sz="975" b="0">
                <a:solidFill>
                  <a:srgbClr val="AEC0C4"/>
                </a:solidFill>
                <a:latin typeface="Arial"/>
                <a:ea typeface="Arial"/>
                <a:cs typeface="Arial"/>
              </a:defRPr>
            </a:pPr>
            <a:r>
              <a:rPr sz="975" b="0">
                <a:solidFill>
                  <a:srgbClr val="AEC0C4"/>
                </a:solidFill>
                <a:latin typeface="Arial"/>
                <a:ea typeface="Arial"/>
                <a:cs typeface="Arial"/>
              </a:rPr>
              <a:t>Local seeded demo view</a:t>
            </a:r>
          </a:p>
        </p:txBody>
      </p:sp>
      <p:sp>
        <p:nvSpPr>
          <p:cNvPr id="11" name="">
            <a:extLst xmlns:a="http://schemas.openxmlformats.org/drawingml/2006/main">
              <a:ext uri="{FF2B5EF4-FFF2-40B4-BE49-F238E27FC236}">
                <a16:creationId xmlns:a16="http://schemas.microsoft.com/office/drawing/2014/main" id="{2E96903A-99B4-405E-B986-AF50062FA094}"/>
              </a:ext>
            </a:extLst>
          </p:cNvPr>
          <p:cNvSpPr>
            <a:spLocks xmlns:a="http://schemas.openxmlformats.org/drawingml/2006/main" noGrp="1"/>
          </p:cNvSpPr>
          <p:nvPr/>
        </p:nvSpPr>
        <p:spPr>
          <a:xfrm xmlns:a="http://schemas.openxmlformats.org/drawingml/2006/main">
            <a:off x="66675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AEC0C4"/>
                </a:solidFill>
                <a:latin typeface="Arial"/>
                <a:ea typeface="Arial"/>
                <a:cs typeface="Arial"/>
              </a:defRPr>
            </a:defPPr>
          </a:lstStyle>
          <a:p xmlns:a="http://schemas.openxmlformats.org/drawingml/2006/main">
            <a:pPr algn="l">
              <a:lnSpc>
                <a:spcPct val="100000"/>
              </a:lnSpc>
              <a:buNone/>
              <a:defRPr sz="825" b="1">
                <a:solidFill>
                  <a:srgbClr val="AEC0C4"/>
                </a:solidFill>
                <a:latin typeface="Arial"/>
                <a:ea typeface="Arial"/>
                <a:cs typeface="Arial"/>
              </a:defRPr>
            </a:pPr>
            <a:r>
              <a:rPr sz="825" b="1">
                <a:solidFill>
                  <a:srgbClr val="AEC0C4"/>
                </a:solidFill>
                <a:latin typeface="Arial"/>
                <a:ea typeface="Arial"/>
                <a:cs typeface="Arial"/>
              </a:rPr>
              <a:t>STOCKPILOT  •  DEVOPS CAPSTONE</a:t>
            </a:r>
          </a:p>
        </p:txBody>
      </p:sp>
    </p:spTree>
    <p:extLst>
      <p:ext uri="{BB962C8B-B14F-4D97-AF65-F5344CB8AC3E}">
        <p14:creationId xmlns:p14="http://schemas.microsoft.com/office/powerpoint/2010/main" val="922867721"/>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BAE3C7B-7AE0-4B54-8F49-9573E514EFE1}"/>
              </a:ext>
            </a:extLst>
          </p:cNvPr>
          <p:cNvSpPr>
            <a:spLocks xmlns:a="http://schemas.openxmlformats.org/drawingml/2006/main" noGrp="1"/>
          </p:cNvSpPr>
          <p:nvPr/>
        </p:nvSpPr>
        <p:spPr>
          <a:xfrm xmlns:a="http://schemas.openxmlformats.org/drawingml/2006/main">
            <a:off x="609600" y="323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67C80"/>
                </a:solidFill>
                <a:latin typeface="Arial"/>
                <a:ea typeface="Arial"/>
                <a:cs typeface="Arial"/>
              </a:defRPr>
            </a:defPPr>
          </a:lstStyle>
          <a:p xmlns:a="http://schemas.openxmlformats.org/drawingml/2006/main">
            <a:pPr algn="l">
              <a:lnSpc>
                <a:spcPct val="100000"/>
              </a:lnSpc>
              <a:buNone/>
              <a:defRPr sz="975" b="1">
                <a:solidFill>
                  <a:srgbClr val="167C80"/>
                </a:solidFill>
                <a:latin typeface="Arial"/>
                <a:ea typeface="Arial"/>
                <a:cs typeface="Arial"/>
              </a:defRPr>
            </a:pPr>
            <a:r>
              <a:rPr sz="975" b="1">
                <a:solidFill>
                  <a:srgbClr val="167C80"/>
                </a:solidFill>
                <a:latin typeface="Arial"/>
                <a:ea typeface="Arial"/>
                <a:cs typeface="Arial"/>
              </a:rPr>
              <a:t>01  /  THE PRODUCT</a:t>
            </a:r>
          </a:p>
        </p:txBody>
      </p:sp>
      <p:sp>
        <p:nvSpPr>
          <p:cNvPr id="2" name="">
            <a:extLst xmlns:a="http://schemas.openxmlformats.org/drawingml/2006/main">
              <a:ext uri="{FF2B5EF4-FFF2-40B4-BE49-F238E27FC236}">
                <a16:creationId xmlns:a16="http://schemas.microsoft.com/office/drawing/2014/main" id="{113B8FC8-0995-4503-975F-A4555FCFB27D}"/>
              </a:ext>
            </a:extLst>
          </p:cNvPr>
          <p:cNvSpPr>
            <a:spLocks xmlns:a="http://schemas.openxmlformats.org/drawingml/2006/main" noGrp="1"/>
          </p:cNvSpPr>
          <p:nvPr/>
        </p:nvSpPr>
        <p:spPr>
          <a:xfrm xmlns:a="http://schemas.openxmlformats.org/drawingml/2006/main">
            <a:off x="609600" y="581025"/>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42D3B"/>
                </a:solidFill>
                <a:latin typeface="Arial"/>
                <a:ea typeface="Arial"/>
                <a:cs typeface="Arial"/>
              </a:defRPr>
            </a:defPPr>
          </a:lstStyle>
          <a:p xmlns:a="http://schemas.openxmlformats.org/drawingml/2006/main">
            <a:pPr algn="l">
              <a:lnSpc>
                <a:spcPct val="100000"/>
              </a:lnSpc>
              <a:buNone/>
              <a:defRPr sz="2550" b="1">
                <a:solidFill>
                  <a:srgbClr val="142D3B"/>
                </a:solidFill>
                <a:latin typeface="Arial"/>
                <a:ea typeface="Arial"/>
                <a:cs typeface="Arial"/>
              </a:defRPr>
            </a:pPr>
            <a:r>
              <a:rPr sz="2550" b="1">
                <a:solidFill>
                  <a:srgbClr val="142D3B"/>
                </a:solidFill>
                <a:latin typeface="Arial"/>
                <a:ea typeface="Arial"/>
                <a:cs typeface="Arial"/>
              </a:rPr>
              <a:t>Inventory work, made visible</a:t>
            </a:r>
          </a:p>
        </p:txBody>
      </p:sp>
      <p:sp>
        <p:nvSpPr>
          <p:cNvPr id="3" name="">
            <a:extLst xmlns:a="http://schemas.openxmlformats.org/drawingml/2006/main">
              <a:ext uri="{FF2B5EF4-FFF2-40B4-BE49-F238E27FC236}">
                <a16:creationId xmlns:a16="http://schemas.microsoft.com/office/drawing/2014/main" id="{B39FCCFE-7296-44EE-955C-11CAA127F476}"/>
              </a:ext>
            </a:extLst>
          </p:cNvPr>
          <p:cNvSpPr>
            <a:spLocks xmlns:a="http://schemas.openxmlformats.org/drawingml/2006/main" noGrp="1"/>
          </p:cNvSpPr>
          <p:nvPr/>
        </p:nvSpPr>
        <p:spPr>
          <a:xfrm xmlns:a="http://schemas.openxmlformats.org/drawingml/2006/main">
            <a:off x="628650" y="1114425"/>
            <a:ext cx="1093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627581"/>
                </a:solidFill>
                <a:latin typeface="Arial"/>
                <a:ea typeface="Arial"/>
                <a:cs typeface="Arial"/>
              </a:defRPr>
            </a:defPPr>
          </a:lstStyle>
          <a:p xmlns:a="http://schemas.openxmlformats.org/drawingml/2006/main">
            <a:pPr algn="l">
              <a:lnSpc>
                <a:spcPct val="100000"/>
              </a:lnSpc>
              <a:buNone/>
              <a:defRPr sz="1275" b="0">
                <a:solidFill>
                  <a:srgbClr val="627581"/>
                </a:solidFill>
                <a:latin typeface="Arial"/>
                <a:ea typeface="Arial"/>
                <a:cs typeface="Arial"/>
              </a:defRPr>
            </a:pPr>
            <a:r>
              <a:rPr sz="1275" b="0">
                <a:solidFill>
                  <a:srgbClr val="627581"/>
                </a:solidFill>
                <a:latin typeface="Arial"/>
                <a:ea typeface="Arial"/>
                <a:cs typeface="Arial"/>
              </a:rPr>
              <a:t>A focused first release: products, stock movements, and reorder attention.</a:t>
            </a:r>
          </a:p>
        </p:txBody>
      </p:sp>
      <p:sp>
        <p:nvSpPr>
          <p:cNvPr id="4" name="">
            <a:extLst xmlns:a="http://schemas.openxmlformats.org/drawingml/2006/main">
              <a:ext uri="{FF2B5EF4-FFF2-40B4-BE49-F238E27FC236}">
                <a16:creationId xmlns:a16="http://schemas.microsoft.com/office/drawing/2014/main" id="{C27F5F81-8F50-46D1-AB0D-354E6B5DBD57}"/>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D8E0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D875E04-3906-4FA1-AE7D-27F375227D37}"/>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27581"/>
                </a:solidFill>
                <a:latin typeface="Arial"/>
                <a:ea typeface="Arial"/>
                <a:cs typeface="Arial"/>
              </a:defRPr>
            </a:defPPr>
          </a:lstStyle>
          <a:p xmlns:a="http://schemas.openxmlformats.org/drawingml/2006/main">
            <a:pPr algn="l">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STOCKPILOT  •  DEVOPS CAPSTONE</a:t>
            </a:r>
          </a:p>
        </p:txBody>
      </p:sp>
      <p:sp>
        <p:nvSpPr>
          <p:cNvPr id="6" name="">
            <a:extLst xmlns:a="http://schemas.openxmlformats.org/drawingml/2006/main">
              <a:ext uri="{FF2B5EF4-FFF2-40B4-BE49-F238E27FC236}">
                <a16:creationId xmlns:a16="http://schemas.microsoft.com/office/drawing/2014/main" id="{67E7FABA-4C3D-4D45-BB41-8F41BF6B61CF}"/>
              </a:ext>
            </a:extLst>
          </p:cNvPr>
          <p:cNvSpPr>
            <a:spLocks xmlns:a="http://schemas.openxmlformats.org/drawingml/2006/main" noGrp="1"/>
          </p:cNvSpPr>
          <p:nvPr/>
        </p:nvSpPr>
        <p:spPr>
          <a:xfrm xmlns:a="http://schemas.openxmlformats.org/drawingml/2006/main">
            <a:off x="11096625" y="64865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627581"/>
                </a:solidFill>
                <a:latin typeface="Arial"/>
                <a:ea typeface="Arial"/>
                <a:cs typeface="Arial"/>
              </a:defRPr>
            </a:defPPr>
          </a:lstStyle>
          <a:p xmlns:a="http://schemas.openxmlformats.org/drawingml/2006/main">
            <a:pPr algn="r">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02</a:t>
            </a:r>
          </a:p>
        </p:txBody>
      </p:sp>
      <p:sp>
        <p:nvSpPr>
          <p:cNvPr id="7" name="screenshot-frame">
            <a:extLst xmlns:a="http://schemas.openxmlformats.org/drawingml/2006/main">
              <a:ext uri="{FF2B5EF4-FFF2-40B4-BE49-F238E27FC236}">
                <a16:creationId xmlns:a16="http://schemas.microsoft.com/office/drawing/2014/main" id="{1D2F5A26-4341-40FD-9FB3-C376C47005CF}"/>
              </a:ext>
            </a:extLst>
          </p:cNvPr>
          <p:cNvSpPr>
            <a:spLocks xmlns:a="http://schemas.openxmlformats.org/drawingml/2006/main" noGrp="1"/>
          </p:cNvSpPr>
          <p:nvPr/>
        </p:nvSpPr>
        <p:spPr>
          <a:xfrm xmlns:a="http://schemas.openxmlformats.org/drawingml/2006/main">
            <a:off x="571500" y="1619250"/>
            <a:ext cx="6572250" cy="4019550"/>
          </a:xfrm>
          <a:prstGeom xmlns:a="http://schemas.openxmlformats.org/drawingml/2006/main" prst="roundRect">
            <a:avLst>
              <a:gd name="adj" fmla="val 1896"/>
            </a:avLst>
          </a:prstGeom>
          <a:solidFill xmlns:a="http://schemas.openxmlformats.org/drawingml/2006/main">
            <a:srgbClr val="FFFFFF"/>
          </a:solidFill>
          <a:ln xmlns:a="http://schemas.openxmlformats.org/drawingml/2006/main" w="9525">
            <a:solidFill>
              <a:srgbClr val="D8E0DE"/>
            </a:solidFill>
            <a:prstDash val="solid"/>
          </a:ln>
        </p:spPr>
      </p:sp>
      <p:pic>
        <p:nvPicPr>
          <p:cNvPr id="8" name="">
            <a:extLst xmlns:a="http://schemas.openxmlformats.org/drawingml/2006/main">
              <a:ext uri="{FF2B5EF4-FFF2-40B4-BE49-F238E27FC236}">
                <a16:creationId xmlns:a16="http://schemas.microsoft.com/office/drawing/2014/main" id="{C0F830C1-CFB6-46C9-888F-034CC86AD883}"/>
              </a:ext>
            </a:extLst>
          </p:cNvPr>
          <p:cNvPicPr>
            <a:picLocks xmlns:a="http://schemas.openxmlformats.org/drawingml/2006/main" noChangeAspect="1"/>
          </p:cNvPicPr>
          <p:nvPr/>
        </p:nvPicPr>
        <p:blipFill>
          <a:blip xmlns:r="http://schemas.openxmlformats.org/officeDocument/2006/relationships" xmlns:a="http://schemas.openxmlformats.org/drawingml/2006/main" r:embed="R21664050fa1d445d"/>
          <a:stretch xmlns:a="http://schemas.openxmlformats.org/drawingml/2006/main"/>
        </p:blipFill>
        <p:spPr>
          <a:xfrm xmlns:a="http://schemas.openxmlformats.org/drawingml/2006/main">
            <a:off x="2076438" y="1657350"/>
            <a:ext cx="3562374" cy="3943350"/>
          </a:xfrm>
          <a:prstGeom xmlns:a="http://schemas.openxmlformats.org/drawingml/2006/main" prst="roundRect">
            <a:avLst>
              <a:gd name="adj" fmla="val 2415"/>
            </a:avLst>
          </a:prstGeom>
        </p:spPr>
      </p:pic>
      <p:sp>
        <p:nvSpPr>
          <p:cNvPr id="9" name="">
            <a:extLst xmlns:a="http://schemas.openxmlformats.org/drawingml/2006/main">
              <a:ext uri="{FF2B5EF4-FFF2-40B4-BE49-F238E27FC236}">
                <a16:creationId xmlns:a16="http://schemas.microsoft.com/office/drawing/2014/main" id="{D6AD312B-34EA-4382-B67A-D5A7AC78E7BA}"/>
              </a:ext>
            </a:extLst>
          </p:cNvPr>
          <p:cNvSpPr>
            <a:spLocks xmlns:a="http://schemas.openxmlformats.org/drawingml/2006/main" noGrp="1"/>
          </p:cNvSpPr>
          <p:nvPr/>
        </p:nvSpPr>
        <p:spPr>
          <a:xfrm xmlns:a="http://schemas.openxmlformats.org/drawingml/2006/main">
            <a:off x="7524750" y="1743075"/>
            <a:ext cx="1638300" cy="247650"/>
          </a:xfrm>
          <a:prstGeom xmlns:a="http://schemas.openxmlformats.org/drawingml/2006/main" prst="roundRect">
            <a:avLst>
              <a:gd name="adj" fmla="val 30769"/>
            </a:avLst>
          </a:prstGeom>
          <a:solidFill xmlns:a="http://schemas.openxmlformats.org/drawingml/2006/main">
            <a:srgbClr val="167C8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E2C6F1D-C4C1-44B2-9A1F-BC07B0894AE1}"/>
              </a:ext>
            </a:extLst>
          </p:cNvPr>
          <p:cNvSpPr>
            <a:spLocks xmlns:a="http://schemas.openxmlformats.org/drawingml/2006/main" noGrp="1"/>
          </p:cNvSpPr>
          <p:nvPr/>
        </p:nvSpPr>
        <p:spPr>
          <a:xfrm xmlns:a="http://schemas.openxmlformats.org/drawingml/2006/main">
            <a:off x="7620000" y="1752600"/>
            <a:ext cx="1447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FFFFFF"/>
                </a:solidFill>
                <a:latin typeface="Arial"/>
                <a:ea typeface="Arial"/>
                <a:cs typeface="Arial"/>
              </a:defRPr>
            </a:def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PRODUCT WORKFLOW</a:t>
            </a:r>
          </a:p>
        </p:txBody>
      </p:sp>
      <p:sp>
        <p:nvSpPr>
          <p:cNvPr id="11" name="">
            <a:extLst xmlns:a="http://schemas.openxmlformats.org/drawingml/2006/main">
              <a:ext uri="{FF2B5EF4-FFF2-40B4-BE49-F238E27FC236}">
                <a16:creationId xmlns:a16="http://schemas.microsoft.com/office/drawing/2014/main" id="{CD670496-6384-471E-AC35-B9C2EF6F72C7}"/>
              </a:ext>
            </a:extLst>
          </p:cNvPr>
          <p:cNvSpPr>
            <a:spLocks xmlns:a="http://schemas.openxmlformats.org/drawingml/2006/main" noGrp="1"/>
          </p:cNvSpPr>
          <p:nvPr/>
        </p:nvSpPr>
        <p:spPr>
          <a:xfrm xmlns:a="http://schemas.openxmlformats.org/drawingml/2006/main">
            <a:off x="7524750" y="2143125"/>
            <a:ext cx="3857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6221"/>
          </a:bodyPr>
          <a:lstStyle xmlns:a="http://schemas.openxmlformats.org/drawingml/2006/main">
            <a:defPPr algn="l">
              <a:defRPr sz="1950" b="1">
                <a:solidFill>
                  <a:srgbClr val="142D3B"/>
                </a:solidFill>
                <a:latin typeface="Arial"/>
                <a:ea typeface="Arial"/>
                <a:cs typeface="Arial"/>
              </a:defRPr>
            </a:defPPr>
          </a:lstStyle>
          <a:p xmlns:a="http://schemas.openxmlformats.org/drawingml/2006/main">
            <a:pPr algn="l">
              <a:lnSpc>
                <a:spcPct val="100000"/>
              </a:lnSpc>
              <a:buNone/>
              <a:defRPr sz="1950" b="1">
                <a:solidFill>
                  <a:srgbClr val="142D3B"/>
                </a:solidFill>
                <a:latin typeface="Arial"/>
                <a:ea typeface="Arial"/>
                <a:cs typeface="Arial"/>
              </a:defRPr>
            </a:pPr>
            <a:r>
              <a:rPr sz="1950" b="1">
                <a:solidFill>
                  <a:srgbClr val="142D3B"/>
                </a:solidFill>
                <a:latin typeface="Arial"/>
                <a:ea typeface="Arial"/>
                <a:cs typeface="Arial"/>
              </a:rPr>
              <a:t>Keep the stock ledger trustworthy</a:t>
            </a:r>
          </a:p>
        </p:txBody>
      </p:sp>
      <p:sp>
        <p:nvSpPr>
          <p:cNvPr id="12" name="">
            <a:extLst xmlns:a="http://schemas.openxmlformats.org/drawingml/2006/main">
              <a:ext uri="{FF2B5EF4-FFF2-40B4-BE49-F238E27FC236}">
                <a16:creationId xmlns:a16="http://schemas.microsoft.com/office/drawing/2014/main" id="{C716633F-0F5A-4249-ABEA-239C2CD24098}"/>
              </a:ext>
            </a:extLst>
          </p:cNvPr>
          <p:cNvSpPr>
            <a:spLocks xmlns:a="http://schemas.openxmlformats.org/drawingml/2006/main" noGrp="1"/>
          </p:cNvSpPr>
          <p:nvPr/>
        </p:nvSpPr>
        <p:spPr>
          <a:xfrm xmlns:a="http://schemas.openxmlformats.org/drawingml/2006/main">
            <a:off x="7524750" y="2838450"/>
            <a:ext cx="323850" cy="323850"/>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5AC379A-6FF1-4C50-ACE2-3B6CC91D7E58}"/>
              </a:ext>
            </a:extLst>
          </p:cNvPr>
          <p:cNvSpPr>
            <a:spLocks xmlns:a="http://schemas.openxmlformats.org/drawingml/2006/main" noGrp="1"/>
          </p:cNvSpPr>
          <p:nvPr/>
        </p:nvSpPr>
        <p:spPr>
          <a:xfrm xmlns:a="http://schemas.openxmlformats.org/drawingml/2006/main">
            <a:off x="7524750" y="28384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FFFFFF"/>
                </a:solidFill>
                <a:latin typeface="Arial"/>
                <a:ea typeface="Arial"/>
                <a:cs typeface="Arial"/>
              </a:defRPr>
            </a:defPPr>
          </a:lstStyle>
          <a:p xmlns:a="http://schemas.openxmlformats.org/drawingml/2006/main">
            <a:pPr algn="ctr">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9A6D8064-BF87-4635-8ADF-1788285C1A90}"/>
              </a:ext>
            </a:extLst>
          </p:cNvPr>
          <p:cNvSpPr>
            <a:spLocks xmlns:a="http://schemas.openxmlformats.org/drawingml/2006/main" noGrp="1"/>
          </p:cNvSpPr>
          <p:nvPr/>
        </p:nvSpPr>
        <p:spPr>
          <a:xfrm xmlns:a="http://schemas.openxmlformats.org/drawingml/2006/main">
            <a:off x="8010525" y="28194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42D3B"/>
                </a:solidFill>
                <a:latin typeface="Arial"/>
                <a:ea typeface="Arial"/>
                <a:cs typeface="Arial"/>
              </a:defRPr>
            </a:defPPr>
          </a:lstStyle>
          <a:p xmlns:a="http://schemas.openxmlformats.org/drawingml/2006/main">
            <a:pPr algn="l">
              <a:lnSpc>
                <a:spcPct val="100000"/>
              </a:lnSpc>
              <a:buNone/>
              <a:defRPr sz="1425" b="1">
                <a:solidFill>
                  <a:srgbClr val="142D3B"/>
                </a:solidFill>
                <a:latin typeface="Arial"/>
                <a:ea typeface="Arial"/>
                <a:cs typeface="Arial"/>
              </a:defRPr>
            </a:pPr>
            <a:r>
              <a:rPr sz="1425" b="1">
                <a:solidFill>
                  <a:srgbClr val="142D3B"/>
                </a:solidFill>
                <a:latin typeface="Arial"/>
                <a:ea typeface="Arial"/>
                <a:cs typeface="Arial"/>
              </a:rPr>
              <a:t>Manage products</a:t>
            </a:r>
          </a:p>
        </p:txBody>
      </p:sp>
      <p:sp>
        <p:nvSpPr>
          <p:cNvPr id="15" name="">
            <a:extLst xmlns:a="http://schemas.openxmlformats.org/drawingml/2006/main">
              <a:ext uri="{FF2B5EF4-FFF2-40B4-BE49-F238E27FC236}">
                <a16:creationId xmlns:a16="http://schemas.microsoft.com/office/drawing/2014/main" id="{FE85B8CC-6305-49D9-B9DC-9169F0FB2DFB}"/>
              </a:ext>
            </a:extLst>
          </p:cNvPr>
          <p:cNvSpPr>
            <a:spLocks xmlns:a="http://schemas.openxmlformats.org/drawingml/2006/main" noGrp="1"/>
          </p:cNvSpPr>
          <p:nvPr/>
        </p:nvSpPr>
        <p:spPr>
          <a:xfrm xmlns:a="http://schemas.openxmlformats.org/drawingml/2006/main">
            <a:off x="8010525" y="3105150"/>
            <a:ext cx="3381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627581"/>
                </a:solidFill>
                <a:latin typeface="Arial"/>
                <a:ea typeface="Arial"/>
                <a:cs typeface="Arial"/>
              </a:defRPr>
            </a:defPPr>
          </a:lstStyle>
          <a:p xmlns:a="http://schemas.openxmlformats.org/drawingml/2006/main">
            <a:pPr algn="l">
              <a:lnSpc>
                <a:spcPct val="100000"/>
              </a:lnSpc>
              <a:buNone/>
              <a:defRPr sz="1125" b="0">
                <a:solidFill>
                  <a:srgbClr val="627581"/>
                </a:solidFill>
                <a:latin typeface="Arial"/>
                <a:ea typeface="Arial"/>
                <a:cs typeface="Arial"/>
              </a:defRPr>
            </a:pPr>
            <a:r>
              <a:rPr sz="1125" b="0">
                <a:solidFill>
                  <a:srgbClr val="627581"/>
                </a:solidFill>
                <a:latin typeface="Arial"/>
                <a:ea typeface="Arial"/>
                <a:cs typeface="Arial"/>
              </a:rPr>
              <a:t>SKU, category, INR price and reorder threshold.</a:t>
            </a:r>
          </a:p>
        </p:txBody>
      </p:sp>
      <p:sp>
        <p:nvSpPr>
          <p:cNvPr id="16" name="">
            <a:extLst xmlns:a="http://schemas.openxmlformats.org/drawingml/2006/main">
              <a:ext uri="{FF2B5EF4-FFF2-40B4-BE49-F238E27FC236}">
                <a16:creationId xmlns:a16="http://schemas.microsoft.com/office/drawing/2014/main" id="{5AD7AF1B-243D-4626-B695-0CAAA001264C}"/>
              </a:ext>
            </a:extLst>
          </p:cNvPr>
          <p:cNvSpPr>
            <a:spLocks xmlns:a="http://schemas.openxmlformats.org/drawingml/2006/main" noGrp="1"/>
          </p:cNvSpPr>
          <p:nvPr/>
        </p:nvSpPr>
        <p:spPr>
          <a:xfrm xmlns:a="http://schemas.openxmlformats.org/drawingml/2006/main">
            <a:off x="7524750" y="3724275"/>
            <a:ext cx="323850" cy="323850"/>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6DCCF0B-C2C0-44BE-8CE1-D62FA1DFD515}"/>
              </a:ext>
            </a:extLst>
          </p:cNvPr>
          <p:cNvSpPr>
            <a:spLocks xmlns:a="http://schemas.openxmlformats.org/drawingml/2006/main" noGrp="1"/>
          </p:cNvSpPr>
          <p:nvPr/>
        </p:nvSpPr>
        <p:spPr>
          <a:xfrm xmlns:a="http://schemas.openxmlformats.org/drawingml/2006/main">
            <a:off x="7524750" y="37242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FFFFFF"/>
                </a:solidFill>
                <a:latin typeface="Arial"/>
                <a:ea typeface="Arial"/>
                <a:cs typeface="Arial"/>
              </a:defRPr>
            </a:defPPr>
          </a:lstStyle>
          <a:p xmlns:a="http://schemas.openxmlformats.org/drawingml/2006/main">
            <a:pPr algn="ctr">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02</a:t>
            </a:r>
          </a:p>
        </p:txBody>
      </p:sp>
      <p:sp>
        <p:nvSpPr>
          <p:cNvPr id="18" name="">
            <a:extLst xmlns:a="http://schemas.openxmlformats.org/drawingml/2006/main">
              <a:ext uri="{FF2B5EF4-FFF2-40B4-BE49-F238E27FC236}">
                <a16:creationId xmlns:a16="http://schemas.microsoft.com/office/drawing/2014/main" id="{48A73574-15CC-4096-A7B6-F0CDE09955E0}"/>
              </a:ext>
            </a:extLst>
          </p:cNvPr>
          <p:cNvSpPr>
            <a:spLocks xmlns:a="http://schemas.openxmlformats.org/drawingml/2006/main" noGrp="1"/>
          </p:cNvSpPr>
          <p:nvPr/>
        </p:nvSpPr>
        <p:spPr>
          <a:xfrm xmlns:a="http://schemas.openxmlformats.org/drawingml/2006/main">
            <a:off x="8010525" y="370522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42D3B"/>
                </a:solidFill>
                <a:latin typeface="Arial"/>
                <a:ea typeface="Arial"/>
                <a:cs typeface="Arial"/>
              </a:defRPr>
            </a:defPPr>
          </a:lstStyle>
          <a:p xmlns:a="http://schemas.openxmlformats.org/drawingml/2006/main">
            <a:pPr algn="l">
              <a:lnSpc>
                <a:spcPct val="100000"/>
              </a:lnSpc>
              <a:buNone/>
              <a:defRPr sz="1425" b="1">
                <a:solidFill>
                  <a:srgbClr val="142D3B"/>
                </a:solidFill>
                <a:latin typeface="Arial"/>
                <a:ea typeface="Arial"/>
                <a:cs typeface="Arial"/>
              </a:defRPr>
            </a:pPr>
            <a:r>
              <a:rPr sz="1425" b="1">
                <a:solidFill>
                  <a:srgbClr val="142D3B"/>
                </a:solidFill>
                <a:latin typeface="Arial"/>
                <a:ea typeface="Arial"/>
                <a:cs typeface="Arial"/>
              </a:rPr>
              <a:t>Record stock changes</a:t>
            </a:r>
          </a:p>
        </p:txBody>
      </p:sp>
      <p:sp>
        <p:nvSpPr>
          <p:cNvPr id="19" name="">
            <a:extLst xmlns:a="http://schemas.openxmlformats.org/drawingml/2006/main">
              <a:ext uri="{FF2B5EF4-FFF2-40B4-BE49-F238E27FC236}">
                <a16:creationId xmlns:a16="http://schemas.microsoft.com/office/drawing/2014/main" id="{E6F60418-5186-48CB-B22D-B294DACBFF9C}"/>
              </a:ext>
            </a:extLst>
          </p:cNvPr>
          <p:cNvSpPr>
            <a:spLocks xmlns:a="http://schemas.openxmlformats.org/drawingml/2006/main" noGrp="1"/>
          </p:cNvSpPr>
          <p:nvPr/>
        </p:nvSpPr>
        <p:spPr>
          <a:xfrm xmlns:a="http://schemas.openxmlformats.org/drawingml/2006/main">
            <a:off x="8010525" y="3990975"/>
            <a:ext cx="3381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627581"/>
                </a:solidFill>
                <a:latin typeface="Arial"/>
                <a:ea typeface="Arial"/>
                <a:cs typeface="Arial"/>
              </a:defRPr>
            </a:defPPr>
          </a:lstStyle>
          <a:p xmlns:a="http://schemas.openxmlformats.org/drawingml/2006/main">
            <a:pPr algn="l">
              <a:lnSpc>
                <a:spcPct val="100000"/>
              </a:lnSpc>
              <a:buNone/>
              <a:defRPr sz="1125" b="0">
                <a:solidFill>
                  <a:srgbClr val="627581"/>
                </a:solidFill>
                <a:latin typeface="Arial"/>
                <a:ea typeface="Arial"/>
                <a:cs typeface="Arial"/>
              </a:defRPr>
            </a:pPr>
            <a:r>
              <a:rPr sz="1125" b="0">
                <a:solidFill>
                  <a:srgbClr val="627581"/>
                </a:solidFill>
                <a:latin typeface="Arial"/>
                <a:ea typeface="Arial"/>
                <a:cs typeface="Arial"/>
              </a:rPr>
              <a:t>Receive, issue or adjust; each change creates a movement.</a:t>
            </a:r>
          </a:p>
        </p:txBody>
      </p:sp>
      <p:sp>
        <p:nvSpPr>
          <p:cNvPr id="20" name="">
            <a:extLst xmlns:a="http://schemas.openxmlformats.org/drawingml/2006/main">
              <a:ext uri="{FF2B5EF4-FFF2-40B4-BE49-F238E27FC236}">
                <a16:creationId xmlns:a16="http://schemas.microsoft.com/office/drawing/2014/main" id="{3744CA97-AA96-4824-AE46-32E050356BDA}"/>
              </a:ext>
            </a:extLst>
          </p:cNvPr>
          <p:cNvSpPr>
            <a:spLocks xmlns:a="http://schemas.openxmlformats.org/drawingml/2006/main" noGrp="1"/>
          </p:cNvSpPr>
          <p:nvPr/>
        </p:nvSpPr>
        <p:spPr>
          <a:xfrm xmlns:a="http://schemas.openxmlformats.org/drawingml/2006/main">
            <a:off x="7524750" y="4610100"/>
            <a:ext cx="323850" cy="323850"/>
          </a:xfrm>
          <a:prstGeom xmlns:a="http://schemas.openxmlformats.org/drawingml/2006/main" prst="ellipse">
            <a:avLst/>
          </a:prstGeom>
          <a:solidFill xmlns:a="http://schemas.openxmlformats.org/drawingml/2006/main">
            <a:srgbClr val="E9A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2FBE3E4-72BC-4AA8-9B97-1F18EB313A07}"/>
              </a:ext>
            </a:extLst>
          </p:cNvPr>
          <p:cNvSpPr>
            <a:spLocks xmlns:a="http://schemas.openxmlformats.org/drawingml/2006/main" noGrp="1"/>
          </p:cNvSpPr>
          <p:nvPr/>
        </p:nvSpPr>
        <p:spPr>
          <a:xfrm xmlns:a="http://schemas.openxmlformats.org/drawingml/2006/main">
            <a:off x="7524750" y="46101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FFFFFF"/>
                </a:solidFill>
                <a:latin typeface="Arial"/>
                <a:ea typeface="Arial"/>
                <a:cs typeface="Arial"/>
              </a:defRPr>
            </a:defPPr>
          </a:lstStyle>
          <a:p xmlns:a="http://schemas.openxmlformats.org/drawingml/2006/main">
            <a:pPr algn="ctr">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03</a:t>
            </a:r>
          </a:p>
        </p:txBody>
      </p:sp>
      <p:sp>
        <p:nvSpPr>
          <p:cNvPr id="22" name="">
            <a:extLst xmlns:a="http://schemas.openxmlformats.org/drawingml/2006/main">
              <a:ext uri="{FF2B5EF4-FFF2-40B4-BE49-F238E27FC236}">
                <a16:creationId xmlns:a16="http://schemas.microsoft.com/office/drawing/2014/main" id="{48B475E6-3894-49FA-8079-5E39611D84D2}"/>
              </a:ext>
            </a:extLst>
          </p:cNvPr>
          <p:cNvSpPr>
            <a:spLocks xmlns:a="http://schemas.openxmlformats.org/drawingml/2006/main" noGrp="1"/>
          </p:cNvSpPr>
          <p:nvPr/>
        </p:nvSpPr>
        <p:spPr>
          <a:xfrm xmlns:a="http://schemas.openxmlformats.org/drawingml/2006/main">
            <a:off x="8010525" y="45910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42D3B"/>
                </a:solidFill>
                <a:latin typeface="Arial"/>
                <a:ea typeface="Arial"/>
                <a:cs typeface="Arial"/>
              </a:defRPr>
            </a:defPPr>
          </a:lstStyle>
          <a:p xmlns:a="http://schemas.openxmlformats.org/drawingml/2006/main">
            <a:pPr algn="l">
              <a:lnSpc>
                <a:spcPct val="100000"/>
              </a:lnSpc>
              <a:buNone/>
              <a:defRPr sz="1425" b="1">
                <a:solidFill>
                  <a:srgbClr val="142D3B"/>
                </a:solidFill>
                <a:latin typeface="Arial"/>
                <a:ea typeface="Arial"/>
                <a:cs typeface="Arial"/>
              </a:defRPr>
            </a:pPr>
            <a:r>
              <a:rPr sz="1425" b="1">
                <a:solidFill>
                  <a:srgbClr val="142D3B"/>
                </a:solidFill>
                <a:latin typeface="Arial"/>
                <a:ea typeface="Arial"/>
                <a:cs typeface="Arial"/>
              </a:rPr>
              <a:t>Act on low stock</a:t>
            </a:r>
          </a:p>
        </p:txBody>
      </p:sp>
      <p:sp>
        <p:nvSpPr>
          <p:cNvPr id="23" name="">
            <a:extLst xmlns:a="http://schemas.openxmlformats.org/drawingml/2006/main">
              <a:ext uri="{FF2B5EF4-FFF2-40B4-BE49-F238E27FC236}">
                <a16:creationId xmlns:a16="http://schemas.microsoft.com/office/drawing/2014/main" id="{07CA687F-B265-44A1-BD48-B17EDBF3AACB}"/>
              </a:ext>
            </a:extLst>
          </p:cNvPr>
          <p:cNvSpPr>
            <a:spLocks xmlns:a="http://schemas.openxmlformats.org/drawingml/2006/main" noGrp="1"/>
          </p:cNvSpPr>
          <p:nvPr/>
        </p:nvSpPr>
        <p:spPr>
          <a:xfrm xmlns:a="http://schemas.openxmlformats.org/drawingml/2006/main">
            <a:off x="8010525" y="4876800"/>
            <a:ext cx="3381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627581"/>
                </a:solidFill>
                <a:latin typeface="Arial"/>
                <a:ea typeface="Arial"/>
                <a:cs typeface="Arial"/>
              </a:defRPr>
            </a:defPPr>
          </a:lstStyle>
          <a:p xmlns:a="http://schemas.openxmlformats.org/drawingml/2006/main">
            <a:pPr algn="l">
              <a:lnSpc>
                <a:spcPct val="100000"/>
              </a:lnSpc>
              <a:buNone/>
              <a:defRPr sz="1125" b="0">
                <a:solidFill>
                  <a:srgbClr val="627581"/>
                </a:solidFill>
                <a:latin typeface="Arial"/>
                <a:ea typeface="Arial"/>
                <a:cs typeface="Arial"/>
              </a:defRPr>
            </a:pPr>
            <a:r>
              <a:rPr sz="1125" b="0">
                <a:solidFill>
                  <a:srgbClr val="627581"/>
                </a:solidFill>
                <a:latin typeface="Arial"/>
                <a:ea typeface="Arial"/>
                <a:cs typeface="Arial"/>
              </a:rPr>
              <a:t>Search products and surface items below their threshold.</a:t>
            </a:r>
          </a:p>
        </p:txBody>
      </p:sp>
      <p:sp>
        <p:nvSpPr>
          <p:cNvPr id="24" name="">
            <a:extLst xmlns:a="http://schemas.openxmlformats.org/drawingml/2006/main">
              <a:ext uri="{FF2B5EF4-FFF2-40B4-BE49-F238E27FC236}">
                <a16:creationId xmlns:a16="http://schemas.microsoft.com/office/drawing/2014/main" id="{BA4179C7-81B0-449E-B4DB-ACAD9880B2FC}"/>
              </a:ext>
            </a:extLst>
          </p:cNvPr>
          <p:cNvSpPr>
            <a:spLocks xmlns:a="http://schemas.openxmlformats.org/drawingml/2006/main" noGrp="1"/>
          </p:cNvSpPr>
          <p:nvPr/>
        </p:nvSpPr>
        <p:spPr>
          <a:xfrm xmlns:a="http://schemas.openxmlformats.org/drawingml/2006/main">
            <a:off x="7524750" y="5619750"/>
            <a:ext cx="3848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627581"/>
                </a:solidFill>
                <a:latin typeface="Arial"/>
                <a:ea typeface="Arial"/>
                <a:cs typeface="Arial"/>
              </a:defRPr>
            </a:defPPr>
          </a:lstStyle>
          <a:p xmlns:a="http://schemas.openxmlformats.org/drawingml/2006/main">
            <a:pPr algn="l">
              <a:lnSpc>
                <a:spcPct val="100000"/>
              </a:lnSpc>
              <a:buNone/>
              <a:defRPr sz="975" b="0">
                <a:solidFill>
                  <a:srgbClr val="627581"/>
                </a:solidFill>
                <a:latin typeface="Arial"/>
                <a:ea typeface="Arial"/>
                <a:cs typeface="Arial"/>
              </a:defRPr>
            </a:pPr>
            <a:r>
              <a:rPr sz="975" b="0">
                <a:solidFill>
                  <a:srgbClr val="627581"/>
                </a:solidFill>
                <a:latin typeface="Arial"/>
                <a:ea typeface="Arial"/>
                <a:cs typeface="Arial"/>
              </a:rPr>
              <a:t>The figures shown are fictional local demo data, not live AWS inventory.</a:t>
            </a:r>
          </a:p>
        </p:txBody>
      </p:sp>
    </p:spTree>
    <p:extLst>
      <p:ext uri="{BB962C8B-B14F-4D97-AF65-F5344CB8AC3E}">
        <p14:creationId xmlns:p14="http://schemas.microsoft.com/office/powerpoint/2010/main" val="46735872"/>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6E2105FD-C7E7-4219-99FD-8E61BE0E14E8}"/>
              </a:ext>
            </a:extLst>
          </p:cNvPr>
          <p:cNvSpPr>
            <a:spLocks xmlns:a="http://schemas.openxmlformats.org/drawingml/2006/main" noGrp="1"/>
          </p:cNvSpPr>
          <p:nvPr/>
        </p:nvSpPr>
        <p:spPr>
          <a:xfrm xmlns:a="http://schemas.openxmlformats.org/drawingml/2006/main">
            <a:off x="609600" y="323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67C80"/>
                </a:solidFill>
                <a:latin typeface="Arial"/>
                <a:ea typeface="Arial"/>
                <a:cs typeface="Arial"/>
              </a:defRPr>
            </a:defPPr>
          </a:lstStyle>
          <a:p xmlns:a="http://schemas.openxmlformats.org/drawingml/2006/main">
            <a:pPr algn="l">
              <a:lnSpc>
                <a:spcPct val="100000"/>
              </a:lnSpc>
              <a:buNone/>
              <a:defRPr sz="975" b="1">
                <a:solidFill>
                  <a:srgbClr val="167C80"/>
                </a:solidFill>
                <a:latin typeface="Arial"/>
                <a:ea typeface="Arial"/>
                <a:cs typeface="Arial"/>
              </a:defRPr>
            </a:pPr>
            <a:r>
              <a:rPr sz="975" b="1">
                <a:solidFill>
                  <a:srgbClr val="167C80"/>
                </a:solidFill>
                <a:latin typeface="Arial"/>
                <a:ea typeface="Arial"/>
                <a:cs typeface="Arial"/>
              </a:rPr>
              <a:t>02  /  ARCHITECTURE</a:t>
            </a:r>
          </a:p>
        </p:txBody>
      </p:sp>
      <p:sp>
        <p:nvSpPr>
          <p:cNvPr id="2" name="">
            <a:extLst xmlns:a="http://schemas.openxmlformats.org/drawingml/2006/main">
              <a:ext uri="{FF2B5EF4-FFF2-40B4-BE49-F238E27FC236}">
                <a16:creationId xmlns:a16="http://schemas.microsoft.com/office/drawing/2014/main" id="{E13D2FF6-25E4-4622-8B8E-D5FA55B88488}"/>
              </a:ext>
            </a:extLst>
          </p:cNvPr>
          <p:cNvSpPr>
            <a:spLocks xmlns:a="http://schemas.openxmlformats.org/drawingml/2006/main" noGrp="1"/>
          </p:cNvSpPr>
          <p:nvPr/>
        </p:nvSpPr>
        <p:spPr>
          <a:xfrm xmlns:a="http://schemas.openxmlformats.org/drawingml/2006/main">
            <a:off x="609600" y="581025"/>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42D3B"/>
                </a:solidFill>
                <a:latin typeface="Arial"/>
                <a:ea typeface="Arial"/>
                <a:cs typeface="Arial"/>
              </a:defRPr>
            </a:defPPr>
          </a:lstStyle>
          <a:p xmlns:a="http://schemas.openxmlformats.org/drawingml/2006/main">
            <a:pPr algn="l">
              <a:lnSpc>
                <a:spcPct val="100000"/>
              </a:lnSpc>
              <a:buNone/>
              <a:defRPr sz="2550" b="1">
                <a:solidFill>
                  <a:srgbClr val="142D3B"/>
                </a:solidFill>
                <a:latin typeface="Arial"/>
                <a:ea typeface="Arial"/>
                <a:cs typeface="Arial"/>
              </a:defRPr>
            </a:pPr>
            <a:r>
              <a:rPr sz="2550" b="1">
                <a:solidFill>
                  <a:srgbClr val="142D3B"/>
                </a:solidFill>
                <a:latin typeface="Arial"/>
                <a:ea typeface="Arial"/>
                <a:cs typeface="Arial"/>
              </a:rPr>
              <a:t>One app, two connected paths</a:t>
            </a:r>
          </a:p>
        </p:txBody>
      </p:sp>
      <p:sp>
        <p:nvSpPr>
          <p:cNvPr id="3" name="">
            <a:extLst xmlns:a="http://schemas.openxmlformats.org/drawingml/2006/main">
              <a:ext uri="{FF2B5EF4-FFF2-40B4-BE49-F238E27FC236}">
                <a16:creationId xmlns:a16="http://schemas.microsoft.com/office/drawing/2014/main" id="{B37B06B4-C772-476A-8437-6DC261E81DC2}"/>
              </a:ext>
            </a:extLst>
          </p:cNvPr>
          <p:cNvSpPr>
            <a:spLocks xmlns:a="http://schemas.openxmlformats.org/drawingml/2006/main" noGrp="1"/>
          </p:cNvSpPr>
          <p:nvPr/>
        </p:nvSpPr>
        <p:spPr>
          <a:xfrm xmlns:a="http://schemas.openxmlformats.org/drawingml/2006/main">
            <a:off x="628650" y="1114425"/>
            <a:ext cx="1093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627581"/>
                </a:solidFill>
                <a:latin typeface="Arial"/>
                <a:ea typeface="Arial"/>
                <a:cs typeface="Arial"/>
              </a:defRPr>
            </a:defPPr>
          </a:lstStyle>
          <a:p xmlns:a="http://schemas.openxmlformats.org/drawingml/2006/main">
            <a:pPr algn="l">
              <a:lnSpc>
                <a:spcPct val="100000"/>
              </a:lnSpc>
              <a:buNone/>
              <a:defRPr sz="1275" b="0">
                <a:solidFill>
                  <a:srgbClr val="627581"/>
                </a:solidFill>
                <a:latin typeface="Arial"/>
                <a:ea typeface="Arial"/>
                <a:cs typeface="Arial"/>
              </a:defRPr>
            </a:pPr>
            <a:r>
              <a:rPr sz="1275" b="0">
                <a:solidFill>
                  <a:srgbClr val="627581"/>
                </a:solidFill>
                <a:latin typeface="Arial"/>
                <a:ea typeface="Arial"/>
                <a:cs typeface="Arial"/>
              </a:rPr>
              <a:t>User traffic flows through the cluster; commits flow through CI and GitOps.</a:t>
            </a:r>
          </a:p>
        </p:txBody>
      </p:sp>
      <p:sp>
        <p:nvSpPr>
          <p:cNvPr id="4" name="">
            <a:extLst xmlns:a="http://schemas.openxmlformats.org/drawingml/2006/main">
              <a:ext uri="{FF2B5EF4-FFF2-40B4-BE49-F238E27FC236}">
                <a16:creationId xmlns:a16="http://schemas.microsoft.com/office/drawing/2014/main" id="{84F786DE-95E0-4A25-83DD-4729B0A850B5}"/>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D8E0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9149363-AA90-42DB-97F4-5CD239A5D46A}"/>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27581"/>
                </a:solidFill>
                <a:latin typeface="Arial"/>
                <a:ea typeface="Arial"/>
                <a:cs typeface="Arial"/>
              </a:defRPr>
            </a:defPPr>
          </a:lstStyle>
          <a:p xmlns:a="http://schemas.openxmlformats.org/drawingml/2006/main">
            <a:pPr algn="l">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STOCKPILOT  •  DEVOPS CAPSTONE</a:t>
            </a:r>
          </a:p>
        </p:txBody>
      </p:sp>
      <p:sp>
        <p:nvSpPr>
          <p:cNvPr id="6" name="">
            <a:extLst xmlns:a="http://schemas.openxmlformats.org/drawingml/2006/main">
              <a:ext uri="{FF2B5EF4-FFF2-40B4-BE49-F238E27FC236}">
                <a16:creationId xmlns:a16="http://schemas.microsoft.com/office/drawing/2014/main" id="{FE6FD4F2-4834-4028-AB30-786A1B0102B3}"/>
              </a:ext>
            </a:extLst>
          </p:cNvPr>
          <p:cNvSpPr>
            <a:spLocks xmlns:a="http://schemas.openxmlformats.org/drawingml/2006/main" noGrp="1"/>
          </p:cNvSpPr>
          <p:nvPr/>
        </p:nvSpPr>
        <p:spPr>
          <a:xfrm xmlns:a="http://schemas.openxmlformats.org/drawingml/2006/main">
            <a:off x="11096625" y="64865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627581"/>
                </a:solidFill>
                <a:latin typeface="Arial"/>
                <a:ea typeface="Arial"/>
                <a:cs typeface="Arial"/>
              </a:defRPr>
            </a:defPPr>
          </a:lstStyle>
          <a:p xmlns:a="http://schemas.openxmlformats.org/drawingml/2006/main">
            <a:pPr algn="r">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64010C7A-105E-4845-8DDE-48138124292E}"/>
              </a:ext>
            </a:extLst>
          </p:cNvPr>
          <p:cNvSpPr>
            <a:spLocks xmlns:a="http://schemas.openxmlformats.org/drawingml/2006/main" noGrp="1"/>
          </p:cNvSpPr>
          <p:nvPr/>
        </p:nvSpPr>
        <p:spPr>
          <a:xfrm xmlns:a="http://schemas.openxmlformats.org/drawingml/2006/main">
            <a:off x="609600" y="1581150"/>
            <a:ext cx="1333500" cy="247650"/>
          </a:xfrm>
          <a:prstGeom xmlns:a="http://schemas.openxmlformats.org/drawingml/2006/main" prst="roundRect">
            <a:avLst>
              <a:gd name="adj" fmla="val 30769"/>
            </a:avLst>
          </a:prstGeom>
          <a:solidFill xmlns:a="http://schemas.openxmlformats.org/drawingml/2006/main">
            <a:srgbClr val="167C8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40BB0D4-CFE9-4468-9C0E-D375F60848F5}"/>
              </a:ext>
            </a:extLst>
          </p:cNvPr>
          <p:cNvSpPr>
            <a:spLocks xmlns:a="http://schemas.openxmlformats.org/drawingml/2006/main" noGrp="1"/>
          </p:cNvSpPr>
          <p:nvPr/>
        </p:nvSpPr>
        <p:spPr>
          <a:xfrm xmlns:a="http://schemas.openxmlformats.org/drawingml/2006/main">
            <a:off x="704850" y="1590675"/>
            <a:ext cx="114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FFFFFF"/>
                </a:solidFill>
                <a:latin typeface="Arial"/>
                <a:ea typeface="Arial"/>
                <a:cs typeface="Arial"/>
              </a:defRPr>
            </a:def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RUNTIME PATH</a:t>
            </a:r>
          </a:p>
        </p:txBody>
      </p:sp>
      <p:sp>
        <p:nvSpPr>
          <p:cNvPr id="9" name="">
            <a:extLst xmlns:a="http://schemas.openxmlformats.org/drawingml/2006/main">
              <a:ext uri="{FF2B5EF4-FFF2-40B4-BE49-F238E27FC236}">
                <a16:creationId xmlns:a16="http://schemas.microsoft.com/office/drawing/2014/main" id="{F3BF6921-FBA5-4688-8770-CB58B4BC60B0}"/>
              </a:ext>
            </a:extLst>
          </p:cNvPr>
          <p:cNvSpPr>
            <a:spLocks xmlns:a="http://schemas.openxmlformats.org/drawingml/2006/main" noGrp="1"/>
          </p:cNvSpPr>
          <p:nvPr/>
        </p:nvSpPr>
        <p:spPr>
          <a:xfrm xmlns:a="http://schemas.openxmlformats.org/drawingml/2006/main">
            <a:off x="609600" y="2009775"/>
            <a:ext cx="18097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8E0DE"/>
            </a:solidFill>
            <a:prstDash val="solid"/>
          </a:ln>
        </p:spPr>
      </p:sp>
      <p:sp>
        <p:nvSpPr>
          <p:cNvPr id="10" name="">
            <a:extLst xmlns:a="http://schemas.openxmlformats.org/drawingml/2006/main">
              <a:ext uri="{FF2B5EF4-FFF2-40B4-BE49-F238E27FC236}">
                <a16:creationId xmlns:a16="http://schemas.microsoft.com/office/drawing/2014/main" id="{8B1738EC-34B0-4E84-94B0-3D3AF44D4B0D}"/>
              </a:ext>
            </a:extLst>
          </p:cNvPr>
          <p:cNvSpPr>
            <a:spLocks xmlns:a="http://schemas.openxmlformats.org/drawingml/2006/main" noGrp="1"/>
          </p:cNvSpPr>
          <p:nvPr/>
        </p:nvSpPr>
        <p:spPr>
          <a:xfrm xmlns:a="http://schemas.openxmlformats.org/drawingml/2006/main">
            <a:off x="752475" y="21336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142D3B"/>
                </a:solidFill>
                <a:latin typeface="Arial"/>
                <a:ea typeface="Arial"/>
                <a:cs typeface="Arial"/>
              </a:defRPr>
            </a:defPPr>
          </a:lstStyle>
          <a:p xmlns:a="http://schemas.openxmlformats.org/drawingml/2006/main">
            <a:pPr algn="ctr">
              <a:lnSpc>
                <a:spcPct val="100000"/>
              </a:lnSpc>
              <a:buNone/>
              <a:defRPr sz="1350" b="1">
                <a:solidFill>
                  <a:srgbClr val="142D3B"/>
                </a:solidFill>
                <a:latin typeface="Arial"/>
                <a:ea typeface="Arial"/>
                <a:cs typeface="Arial"/>
              </a:defRPr>
            </a:pPr>
            <a:r>
              <a:rPr sz="1350" b="1">
                <a:solidFill>
                  <a:srgbClr val="142D3B"/>
                </a:solidFill>
                <a:latin typeface="Arial"/>
                <a:ea typeface="Arial"/>
                <a:cs typeface="Arial"/>
              </a:rPr>
              <a:t>Browser</a:t>
            </a:r>
          </a:p>
        </p:txBody>
      </p:sp>
      <p:sp>
        <p:nvSpPr>
          <p:cNvPr id="11" name="">
            <a:extLst xmlns:a="http://schemas.openxmlformats.org/drawingml/2006/main">
              <a:ext uri="{FF2B5EF4-FFF2-40B4-BE49-F238E27FC236}">
                <a16:creationId xmlns:a16="http://schemas.microsoft.com/office/drawing/2014/main" id="{5824B077-8B14-472F-BBF8-FD6B82E9FE1C}"/>
              </a:ext>
            </a:extLst>
          </p:cNvPr>
          <p:cNvSpPr>
            <a:spLocks xmlns:a="http://schemas.openxmlformats.org/drawingml/2006/main" noGrp="1"/>
          </p:cNvSpPr>
          <p:nvPr/>
        </p:nvSpPr>
        <p:spPr>
          <a:xfrm xmlns:a="http://schemas.openxmlformats.org/drawingml/2006/main">
            <a:off x="723900" y="2438400"/>
            <a:ext cx="1581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627581"/>
                </a:solidFill>
                <a:latin typeface="Arial"/>
                <a:ea typeface="Arial"/>
                <a:cs typeface="Arial"/>
              </a:defRPr>
            </a:defPPr>
          </a:lstStyle>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React + Vite</a:t>
            </a:r>
          </a:p>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StockPilot UI</a:t>
            </a:r>
          </a:p>
        </p:txBody>
      </p:sp>
      <p:sp>
        <p:nvSpPr>
          <p:cNvPr id="12" name="">
            <a:extLst xmlns:a="http://schemas.openxmlformats.org/drawingml/2006/main">
              <a:ext uri="{FF2B5EF4-FFF2-40B4-BE49-F238E27FC236}">
                <a16:creationId xmlns:a16="http://schemas.microsoft.com/office/drawing/2014/main" id="{2A10C3FF-3AB2-4F41-AA07-C180E1D6CA64}"/>
              </a:ext>
            </a:extLst>
          </p:cNvPr>
          <p:cNvSpPr>
            <a:spLocks xmlns:a="http://schemas.openxmlformats.org/drawingml/2006/main" noGrp="1"/>
          </p:cNvSpPr>
          <p:nvPr/>
        </p:nvSpPr>
        <p:spPr>
          <a:xfrm xmlns:a="http://schemas.openxmlformats.org/drawingml/2006/main">
            <a:off x="3028950" y="2009775"/>
            <a:ext cx="2038350" cy="990600"/>
          </a:xfrm>
          <a:prstGeom xmlns:a="http://schemas.openxmlformats.org/drawingml/2006/main" prst="roundRect">
            <a:avLst>
              <a:gd name="adj" fmla="val 7692"/>
            </a:avLst>
          </a:prstGeom>
          <a:solidFill xmlns:a="http://schemas.openxmlformats.org/drawingml/2006/main">
            <a:srgbClr val="D9EFEB"/>
          </a:solidFill>
          <a:ln xmlns:a="http://schemas.openxmlformats.org/drawingml/2006/main" w="9525">
            <a:solidFill>
              <a:srgbClr val="D8E0DE"/>
            </a:solidFill>
            <a:prstDash val="solid"/>
          </a:ln>
        </p:spPr>
      </p:sp>
      <p:sp>
        <p:nvSpPr>
          <p:cNvPr id="13" name="">
            <a:extLst xmlns:a="http://schemas.openxmlformats.org/drawingml/2006/main">
              <a:ext uri="{FF2B5EF4-FFF2-40B4-BE49-F238E27FC236}">
                <a16:creationId xmlns:a16="http://schemas.microsoft.com/office/drawing/2014/main" id="{09052A00-10DC-40D3-B739-AFCD133A0FB9}"/>
              </a:ext>
            </a:extLst>
          </p:cNvPr>
          <p:cNvSpPr>
            <a:spLocks xmlns:a="http://schemas.openxmlformats.org/drawingml/2006/main" noGrp="1"/>
          </p:cNvSpPr>
          <p:nvPr/>
        </p:nvSpPr>
        <p:spPr>
          <a:xfrm xmlns:a="http://schemas.openxmlformats.org/drawingml/2006/main">
            <a:off x="3171825" y="2133600"/>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142D3B"/>
                </a:solidFill>
                <a:latin typeface="Arial"/>
                <a:ea typeface="Arial"/>
                <a:cs typeface="Arial"/>
              </a:defRPr>
            </a:defPPr>
          </a:lstStyle>
          <a:p xmlns:a="http://schemas.openxmlformats.org/drawingml/2006/main">
            <a:pPr algn="ctr">
              <a:lnSpc>
                <a:spcPct val="100000"/>
              </a:lnSpc>
              <a:buNone/>
              <a:defRPr sz="1350" b="1">
                <a:solidFill>
                  <a:srgbClr val="142D3B"/>
                </a:solidFill>
                <a:latin typeface="Arial"/>
                <a:ea typeface="Arial"/>
                <a:cs typeface="Arial"/>
              </a:defRPr>
            </a:pPr>
            <a:r>
              <a:rPr sz="1350" b="1">
                <a:solidFill>
                  <a:srgbClr val="142D3B"/>
                </a:solidFill>
                <a:latin typeface="Arial"/>
                <a:ea typeface="Arial"/>
                <a:cs typeface="Arial"/>
              </a:rPr>
              <a:t>Traefik Ingress</a:t>
            </a:r>
          </a:p>
        </p:txBody>
      </p:sp>
      <p:sp>
        <p:nvSpPr>
          <p:cNvPr id="14" name="">
            <a:extLst xmlns:a="http://schemas.openxmlformats.org/drawingml/2006/main">
              <a:ext uri="{FF2B5EF4-FFF2-40B4-BE49-F238E27FC236}">
                <a16:creationId xmlns:a16="http://schemas.microsoft.com/office/drawing/2014/main" id="{66883154-F671-4ADE-A20C-F2CE00CB3582}"/>
              </a:ext>
            </a:extLst>
          </p:cNvPr>
          <p:cNvSpPr>
            <a:spLocks xmlns:a="http://schemas.openxmlformats.org/drawingml/2006/main" noGrp="1"/>
          </p:cNvSpPr>
          <p:nvPr/>
        </p:nvSpPr>
        <p:spPr>
          <a:xfrm xmlns:a="http://schemas.openxmlformats.org/drawingml/2006/main">
            <a:off x="3143250" y="2438400"/>
            <a:ext cx="180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627581"/>
                </a:solidFill>
                <a:latin typeface="Arial"/>
                <a:ea typeface="Arial"/>
                <a:cs typeface="Arial"/>
              </a:defRPr>
            </a:defPPr>
          </a:lstStyle>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AWS Network Load Balancer</a:t>
            </a:r>
          </a:p>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 → UI   •   /api → API</a:t>
            </a:r>
          </a:p>
        </p:txBody>
      </p:sp>
      <p:sp>
        <p:nvSpPr>
          <p:cNvPr id="15" name="">
            <a:extLst xmlns:a="http://schemas.openxmlformats.org/drawingml/2006/main">
              <a:ext uri="{FF2B5EF4-FFF2-40B4-BE49-F238E27FC236}">
                <a16:creationId xmlns:a16="http://schemas.microsoft.com/office/drawing/2014/main" id="{92F9A708-DD68-40F5-845A-3B069489CD85}"/>
              </a:ext>
            </a:extLst>
          </p:cNvPr>
          <p:cNvSpPr>
            <a:spLocks xmlns:a="http://schemas.openxmlformats.org/drawingml/2006/main" noGrp="1"/>
          </p:cNvSpPr>
          <p:nvPr/>
        </p:nvSpPr>
        <p:spPr>
          <a:xfrm xmlns:a="http://schemas.openxmlformats.org/drawingml/2006/main">
            <a:off x="5676900" y="2009775"/>
            <a:ext cx="209550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8E0DE"/>
            </a:solidFill>
            <a:prstDash val="solid"/>
          </a:ln>
        </p:spPr>
      </p:sp>
      <p:sp>
        <p:nvSpPr>
          <p:cNvPr id="16" name="">
            <a:extLst xmlns:a="http://schemas.openxmlformats.org/drawingml/2006/main">
              <a:ext uri="{FF2B5EF4-FFF2-40B4-BE49-F238E27FC236}">
                <a16:creationId xmlns:a16="http://schemas.microsoft.com/office/drawing/2014/main" id="{99581891-301F-498F-B40E-29F2F0908E82}"/>
              </a:ext>
            </a:extLst>
          </p:cNvPr>
          <p:cNvSpPr>
            <a:spLocks xmlns:a="http://schemas.openxmlformats.org/drawingml/2006/main" noGrp="1"/>
          </p:cNvSpPr>
          <p:nvPr/>
        </p:nvSpPr>
        <p:spPr>
          <a:xfrm xmlns:a="http://schemas.openxmlformats.org/drawingml/2006/main">
            <a:off x="5819775" y="21336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142D3B"/>
                </a:solidFill>
                <a:latin typeface="Arial"/>
                <a:ea typeface="Arial"/>
                <a:cs typeface="Arial"/>
              </a:defRPr>
            </a:defPPr>
          </a:lstStyle>
          <a:p xmlns:a="http://schemas.openxmlformats.org/drawingml/2006/main">
            <a:pPr algn="ctr">
              <a:lnSpc>
                <a:spcPct val="100000"/>
              </a:lnSpc>
              <a:buNone/>
              <a:defRPr sz="1350" b="1">
                <a:solidFill>
                  <a:srgbClr val="142D3B"/>
                </a:solidFill>
                <a:latin typeface="Arial"/>
                <a:ea typeface="Arial"/>
                <a:cs typeface="Arial"/>
              </a:defRPr>
            </a:pPr>
            <a:r>
              <a:rPr sz="1350" b="1">
                <a:solidFill>
                  <a:srgbClr val="142D3B"/>
                </a:solidFill>
                <a:latin typeface="Arial"/>
                <a:ea typeface="Arial"/>
                <a:cs typeface="Arial"/>
              </a:rPr>
              <a:t>Application</a:t>
            </a:r>
          </a:p>
        </p:txBody>
      </p:sp>
      <p:sp>
        <p:nvSpPr>
          <p:cNvPr id="17" name="">
            <a:extLst xmlns:a="http://schemas.openxmlformats.org/drawingml/2006/main">
              <a:ext uri="{FF2B5EF4-FFF2-40B4-BE49-F238E27FC236}">
                <a16:creationId xmlns:a16="http://schemas.microsoft.com/office/drawing/2014/main" id="{553B1B5C-E58C-4C6E-BAEF-C148A7C6E38C}"/>
              </a:ext>
            </a:extLst>
          </p:cNvPr>
          <p:cNvSpPr>
            <a:spLocks xmlns:a="http://schemas.openxmlformats.org/drawingml/2006/main" noGrp="1"/>
          </p:cNvSpPr>
          <p:nvPr/>
        </p:nvSpPr>
        <p:spPr>
          <a:xfrm xmlns:a="http://schemas.openxmlformats.org/drawingml/2006/main">
            <a:off x="5791200" y="2438400"/>
            <a:ext cx="1866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627581"/>
                </a:solidFill>
                <a:latin typeface="Arial"/>
                <a:ea typeface="Arial"/>
                <a:cs typeface="Arial"/>
              </a:defRPr>
            </a:defPPr>
          </a:lstStyle>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Frontend: 2 replicas</a:t>
            </a:r>
          </a:p>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FastAPI: 2+ replicas</a:t>
            </a:r>
          </a:p>
        </p:txBody>
      </p:sp>
      <p:sp>
        <p:nvSpPr>
          <p:cNvPr id="18" name="">
            <a:extLst xmlns:a="http://schemas.openxmlformats.org/drawingml/2006/main">
              <a:ext uri="{FF2B5EF4-FFF2-40B4-BE49-F238E27FC236}">
                <a16:creationId xmlns:a16="http://schemas.microsoft.com/office/drawing/2014/main" id="{94AEB20C-319F-42BA-9E6B-1F0DE7334690}"/>
              </a:ext>
            </a:extLst>
          </p:cNvPr>
          <p:cNvSpPr>
            <a:spLocks xmlns:a="http://schemas.openxmlformats.org/drawingml/2006/main" noGrp="1"/>
          </p:cNvSpPr>
          <p:nvPr/>
        </p:nvSpPr>
        <p:spPr>
          <a:xfrm xmlns:a="http://schemas.openxmlformats.org/drawingml/2006/main">
            <a:off x="8382000" y="2009775"/>
            <a:ext cx="2400300" cy="990600"/>
          </a:xfrm>
          <a:prstGeom xmlns:a="http://schemas.openxmlformats.org/drawingml/2006/main" prst="roundRect">
            <a:avLst>
              <a:gd name="adj" fmla="val 7692"/>
            </a:avLst>
          </a:prstGeom>
          <a:solidFill xmlns:a="http://schemas.openxmlformats.org/drawingml/2006/main">
            <a:srgbClr val="FFF0D7"/>
          </a:solidFill>
          <a:ln xmlns:a="http://schemas.openxmlformats.org/drawingml/2006/main" w="9525">
            <a:solidFill>
              <a:srgbClr val="D8E0DE"/>
            </a:solidFill>
            <a:prstDash val="solid"/>
          </a:ln>
        </p:spPr>
      </p:sp>
      <p:sp>
        <p:nvSpPr>
          <p:cNvPr id="19" name="">
            <a:extLst xmlns:a="http://schemas.openxmlformats.org/drawingml/2006/main">
              <a:ext uri="{FF2B5EF4-FFF2-40B4-BE49-F238E27FC236}">
                <a16:creationId xmlns:a16="http://schemas.microsoft.com/office/drawing/2014/main" id="{0E608510-A7C8-4AB1-AD02-21697F684C16}"/>
              </a:ext>
            </a:extLst>
          </p:cNvPr>
          <p:cNvSpPr>
            <a:spLocks xmlns:a="http://schemas.openxmlformats.org/drawingml/2006/main" noGrp="1"/>
          </p:cNvSpPr>
          <p:nvPr/>
        </p:nvSpPr>
        <p:spPr>
          <a:xfrm xmlns:a="http://schemas.openxmlformats.org/drawingml/2006/main">
            <a:off x="8524875" y="2133600"/>
            <a:ext cx="2114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142D3B"/>
                </a:solidFill>
                <a:latin typeface="Arial"/>
                <a:ea typeface="Arial"/>
                <a:cs typeface="Arial"/>
              </a:defRPr>
            </a:defPPr>
          </a:lstStyle>
          <a:p xmlns:a="http://schemas.openxmlformats.org/drawingml/2006/main">
            <a:pPr algn="ctr">
              <a:lnSpc>
                <a:spcPct val="100000"/>
              </a:lnSpc>
              <a:buNone/>
              <a:defRPr sz="1350" b="1">
                <a:solidFill>
                  <a:srgbClr val="142D3B"/>
                </a:solidFill>
                <a:latin typeface="Arial"/>
                <a:ea typeface="Arial"/>
                <a:cs typeface="Arial"/>
              </a:defRPr>
            </a:pPr>
            <a:r>
              <a:rPr sz="1350" b="1">
                <a:solidFill>
                  <a:srgbClr val="142D3B"/>
                </a:solidFill>
                <a:latin typeface="Arial"/>
                <a:ea typeface="Arial"/>
                <a:cs typeface="Arial"/>
              </a:rPr>
              <a:t>Data + migration</a:t>
            </a:r>
          </a:p>
        </p:txBody>
      </p:sp>
      <p:sp>
        <p:nvSpPr>
          <p:cNvPr id="20" name="">
            <a:extLst xmlns:a="http://schemas.openxmlformats.org/drawingml/2006/main">
              <a:ext uri="{FF2B5EF4-FFF2-40B4-BE49-F238E27FC236}">
                <a16:creationId xmlns:a16="http://schemas.microsoft.com/office/drawing/2014/main" id="{FA20C9B4-6BE6-4D28-90EF-689356224957}"/>
              </a:ext>
            </a:extLst>
          </p:cNvPr>
          <p:cNvSpPr>
            <a:spLocks xmlns:a="http://schemas.openxmlformats.org/drawingml/2006/main" noGrp="1"/>
          </p:cNvSpPr>
          <p:nvPr/>
        </p:nvSpPr>
        <p:spPr>
          <a:xfrm xmlns:a="http://schemas.openxmlformats.org/drawingml/2006/main">
            <a:off x="8496300" y="2438400"/>
            <a:ext cx="2171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627581"/>
                </a:solidFill>
                <a:latin typeface="Arial"/>
                <a:ea typeface="Arial"/>
                <a:cs typeface="Arial"/>
              </a:defRPr>
            </a:defPPr>
          </a:lstStyle>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PostgreSQL StatefulSet</a:t>
            </a:r>
          </a:p>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gp3 PVC • Alembic Job</a:t>
            </a:r>
          </a:p>
        </p:txBody>
      </p:sp>
      <p:sp>
        <p:nvSpPr>
          <p:cNvPr id="21" name="">
            <a:extLst xmlns:a="http://schemas.openxmlformats.org/drawingml/2006/main">
              <a:ext uri="{FF2B5EF4-FFF2-40B4-BE49-F238E27FC236}">
                <a16:creationId xmlns:a16="http://schemas.microsoft.com/office/drawing/2014/main" id="{5E067F74-E20D-4FF7-A541-44372518E1C7}"/>
              </a:ext>
            </a:extLst>
          </p:cNvPr>
          <p:cNvSpPr>
            <a:spLocks xmlns:a="http://schemas.openxmlformats.org/drawingml/2006/main" noGrp="1"/>
          </p:cNvSpPr>
          <p:nvPr/>
        </p:nvSpPr>
        <p:spPr>
          <a:xfrm xmlns:a="http://schemas.openxmlformats.org/drawingml/2006/main">
            <a:off x="2514600" y="2362200"/>
            <a:ext cx="447675" cy="247650"/>
          </a:xfrm>
          <a:prstGeom xmlns:a="http://schemas.openxmlformats.org/drawingml/2006/main" prst="rightArrow">
            <a:avLst/>
          </a:prstGeom>
          <a:solidFill xmlns:a="http://schemas.openxmlformats.org/drawingml/2006/main">
            <a:srgbClr val="167C8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7E83BFB-CC06-4C30-B91B-97B23273035B}"/>
              </a:ext>
            </a:extLst>
          </p:cNvPr>
          <p:cNvSpPr>
            <a:spLocks xmlns:a="http://schemas.openxmlformats.org/drawingml/2006/main" noGrp="1"/>
          </p:cNvSpPr>
          <p:nvPr/>
        </p:nvSpPr>
        <p:spPr>
          <a:xfrm xmlns:a="http://schemas.openxmlformats.org/drawingml/2006/main">
            <a:off x="5133975" y="2362200"/>
            <a:ext cx="476250" cy="247650"/>
          </a:xfrm>
          <a:prstGeom xmlns:a="http://schemas.openxmlformats.org/drawingml/2006/main" prst="rightArrow">
            <a:avLst/>
          </a:prstGeom>
          <a:solidFill xmlns:a="http://schemas.openxmlformats.org/drawingml/2006/main">
            <a:srgbClr val="167C8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EBB910D-FFAD-47DB-9F03-2F7D79B722F4}"/>
              </a:ext>
            </a:extLst>
          </p:cNvPr>
          <p:cNvSpPr>
            <a:spLocks xmlns:a="http://schemas.openxmlformats.org/drawingml/2006/main" noGrp="1"/>
          </p:cNvSpPr>
          <p:nvPr/>
        </p:nvSpPr>
        <p:spPr>
          <a:xfrm xmlns:a="http://schemas.openxmlformats.org/drawingml/2006/main">
            <a:off x="7839075" y="2362200"/>
            <a:ext cx="476250" cy="247650"/>
          </a:xfrm>
          <a:prstGeom xmlns:a="http://schemas.openxmlformats.org/drawingml/2006/main" prst="rightArrow">
            <a:avLst/>
          </a:prstGeom>
          <a:solidFill xmlns:a="http://schemas.openxmlformats.org/drawingml/2006/main">
            <a:srgbClr val="167C8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582FF14-9460-4126-9244-56EF57514AD6}"/>
              </a:ext>
            </a:extLst>
          </p:cNvPr>
          <p:cNvSpPr>
            <a:spLocks xmlns:a="http://schemas.openxmlformats.org/drawingml/2006/main" noGrp="1"/>
          </p:cNvSpPr>
          <p:nvPr/>
        </p:nvSpPr>
        <p:spPr>
          <a:xfrm xmlns:a="http://schemas.openxmlformats.org/drawingml/2006/main">
            <a:off x="609600" y="3381375"/>
            <a:ext cx="1257300" cy="247650"/>
          </a:xfrm>
          <a:prstGeom xmlns:a="http://schemas.openxmlformats.org/drawingml/2006/main" prst="roundRect">
            <a:avLst>
              <a:gd name="adj" fmla="val 30769"/>
            </a:avLst>
          </a:prstGeom>
          <a:solidFill xmlns:a="http://schemas.openxmlformats.org/drawingml/2006/main">
            <a:srgbClr val="167C8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CE4B755-AC61-451D-92C0-06BDA39B97AA}"/>
              </a:ext>
            </a:extLst>
          </p:cNvPr>
          <p:cNvSpPr>
            <a:spLocks xmlns:a="http://schemas.openxmlformats.org/drawingml/2006/main" noGrp="1"/>
          </p:cNvSpPr>
          <p:nvPr/>
        </p:nvSpPr>
        <p:spPr>
          <a:xfrm xmlns:a="http://schemas.openxmlformats.org/drawingml/2006/main">
            <a:off x="704850" y="3390900"/>
            <a:ext cx="1066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FFFFFF"/>
                </a:solidFill>
                <a:latin typeface="Arial"/>
                <a:ea typeface="Arial"/>
                <a:cs typeface="Arial"/>
              </a:defRPr>
            </a:def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RELEASE PATH</a:t>
            </a:r>
          </a:p>
        </p:txBody>
      </p:sp>
      <p:sp>
        <p:nvSpPr>
          <p:cNvPr id="26" name="">
            <a:extLst xmlns:a="http://schemas.openxmlformats.org/drawingml/2006/main">
              <a:ext uri="{FF2B5EF4-FFF2-40B4-BE49-F238E27FC236}">
                <a16:creationId xmlns:a16="http://schemas.microsoft.com/office/drawing/2014/main" id="{1E440A2C-1012-40D4-90D9-93D2E9993503}"/>
              </a:ext>
            </a:extLst>
          </p:cNvPr>
          <p:cNvSpPr>
            <a:spLocks xmlns:a="http://schemas.openxmlformats.org/drawingml/2006/main" noGrp="1"/>
          </p:cNvSpPr>
          <p:nvPr/>
        </p:nvSpPr>
        <p:spPr>
          <a:xfrm xmlns:a="http://schemas.openxmlformats.org/drawingml/2006/main">
            <a:off x="609600" y="3800475"/>
            <a:ext cx="2076450" cy="1057275"/>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9525">
            <a:solidFill>
              <a:srgbClr val="D8E0DE"/>
            </a:solidFill>
            <a:prstDash val="solid"/>
          </a:ln>
        </p:spPr>
      </p:sp>
      <p:sp>
        <p:nvSpPr>
          <p:cNvPr id="27" name="">
            <a:extLst xmlns:a="http://schemas.openxmlformats.org/drawingml/2006/main">
              <a:ext uri="{FF2B5EF4-FFF2-40B4-BE49-F238E27FC236}">
                <a16:creationId xmlns:a16="http://schemas.microsoft.com/office/drawing/2014/main" id="{1717D5BE-114F-475F-811A-E6EDB38F9660}"/>
              </a:ext>
            </a:extLst>
          </p:cNvPr>
          <p:cNvSpPr>
            <a:spLocks xmlns:a="http://schemas.openxmlformats.org/drawingml/2006/main" noGrp="1"/>
          </p:cNvSpPr>
          <p:nvPr/>
        </p:nvSpPr>
        <p:spPr>
          <a:xfrm xmlns:a="http://schemas.openxmlformats.org/drawingml/2006/main">
            <a:off x="742950" y="3933825"/>
            <a:ext cx="180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142D3B"/>
                </a:solidFill>
                <a:latin typeface="Arial"/>
                <a:ea typeface="Arial"/>
                <a:cs typeface="Arial"/>
              </a:defRPr>
            </a:defPPr>
          </a:lstStyle>
          <a:p xmlns:a="http://schemas.openxmlformats.org/drawingml/2006/main">
            <a:pPr algn="ctr">
              <a:lnSpc>
                <a:spcPct val="100000"/>
              </a:lnSpc>
              <a:buNone/>
              <a:defRPr sz="1350" b="1">
                <a:solidFill>
                  <a:srgbClr val="142D3B"/>
                </a:solidFill>
                <a:latin typeface="Arial"/>
                <a:ea typeface="Arial"/>
                <a:cs typeface="Arial"/>
              </a:defRPr>
            </a:pPr>
            <a:r>
              <a:rPr sz="1350" b="1">
                <a:solidFill>
                  <a:srgbClr val="142D3B"/>
                </a:solidFill>
                <a:latin typeface="Arial"/>
                <a:ea typeface="Arial"/>
                <a:cs typeface="Arial"/>
              </a:rPr>
              <a:t>GitHub Actions</a:t>
            </a:r>
          </a:p>
        </p:txBody>
      </p:sp>
      <p:sp>
        <p:nvSpPr>
          <p:cNvPr id="28" name="">
            <a:extLst xmlns:a="http://schemas.openxmlformats.org/drawingml/2006/main">
              <a:ext uri="{FF2B5EF4-FFF2-40B4-BE49-F238E27FC236}">
                <a16:creationId xmlns:a16="http://schemas.microsoft.com/office/drawing/2014/main" id="{B1FE80BA-8604-4A87-A624-6A686BAC1847}"/>
              </a:ext>
            </a:extLst>
          </p:cNvPr>
          <p:cNvSpPr>
            <a:spLocks xmlns:a="http://schemas.openxmlformats.org/drawingml/2006/main" noGrp="1"/>
          </p:cNvSpPr>
          <p:nvPr/>
        </p:nvSpPr>
        <p:spPr>
          <a:xfrm xmlns:a="http://schemas.openxmlformats.org/drawingml/2006/main">
            <a:off x="733425" y="424815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627581"/>
                </a:solidFill>
                <a:latin typeface="Arial"/>
                <a:ea typeface="Arial"/>
                <a:cs typeface="Arial"/>
              </a:defRPr>
            </a:defPPr>
          </a:lstStyle>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Tests • Helm • Terraform</a:t>
            </a:r>
          </a:p>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Build + Trivy scan</a:t>
            </a:r>
          </a:p>
        </p:txBody>
      </p:sp>
      <p:sp>
        <p:nvSpPr>
          <p:cNvPr id="29" name="">
            <a:extLst xmlns:a="http://schemas.openxmlformats.org/drawingml/2006/main">
              <a:ext uri="{FF2B5EF4-FFF2-40B4-BE49-F238E27FC236}">
                <a16:creationId xmlns:a16="http://schemas.microsoft.com/office/drawing/2014/main" id="{5F6807E9-C635-47C0-9C53-F99CFE7AA38A}"/>
              </a:ext>
            </a:extLst>
          </p:cNvPr>
          <p:cNvSpPr>
            <a:spLocks xmlns:a="http://schemas.openxmlformats.org/drawingml/2006/main" noGrp="1"/>
          </p:cNvSpPr>
          <p:nvPr/>
        </p:nvSpPr>
        <p:spPr>
          <a:xfrm xmlns:a="http://schemas.openxmlformats.org/drawingml/2006/main">
            <a:off x="3067050" y="3800475"/>
            <a:ext cx="1905000" cy="1057275"/>
          </a:xfrm>
          <a:prstGeom xmlns:a="http://schemas.openxmlformats.org/drawingml/2006/main" prst="roundRect">
            <a:avLst>
              <a:gd name="adj" fmla="val 7207"/>
            </a:avLst>
          </a:prstGeom>
          <a:solidFill xmlns:a="http://schemas.openxmlformats.org/drawingml/2006/main">
            <a:srgbClr val="D9EFEB"/>
          </a:solidFill>
          <a:ln xmlns:a="http://schemas.openxmlformats.org/drawingml/2006/main" w="9525">
            <a:solidFill>
              <a:srgbClr val="D8E0DE"/>
            </a:solidFill>
            <a:prstDash val="solid"/>
          </a:ln>
        </p:spPr>
      </p:sp>
      <p:sp>
        <p:nvSpPr>
          <p:cNvPr id="30" name="">
            <a:extLst xmlns:a="http://schemas.openxmlformats.org/drawingml/2006/main">
              <a:ext uri="{FF2B5EF4-FFF2-40B4-BE49-F238E27FC236}">
                <a16:creationId xmlns:a16="http://schemas.microsoft.com/office/drawing/2014/main" id="{4544F083-99DA-422F-989C-8CCE01163C8B}"/>
              </a:ext>
            </a:extLst>
          </p:cNvPr>
          <p:cNvSpPr>
            <a:spLocks xmlns:a="http://schemas.openxmlformats.org/drawingml/2006/main" noGrp="1"/>
          </p:cNvSpPr>
          <p:nvPr/>
        </p:nvSpPr>
        <p:spPr>
          <a:xfrm xmlns:a="http://schemas.openxmlformats.org/drawingml/2006/main">
            <a:off x="3200400" y="3933825"/>
            <a:ext cx="1638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142D3B"/>
                </a:solidFill>
                <a:latin typeface="Arial"/>
                <a:ea typeface="Arial"/>
                <a:cs typeface="Arial"/>
              </a:defRPr>
            </a:defPPr>
          </a:lstStyle>
          <a:p xmlns:a="http://schemas.openxmlformats.org/drawingml/2006/main">
            <a:pPr algn="ctr">
              <a:lnSpc>
                <a:spcPct val="100000"/>
              </a:lnSpc>
              <a:buNone/>
              <a:defRPr sz="1350" b="1">
                <a:solidFill>
                  <a:srgbClr val="142D3B"/>
                </a:solidFill>
                <a:latin typeface="Arial"/>
                <a:ea typeface="Arial"/>
                <a:cs typeface="Arial"/>
              </a:defRPr>
            </a:pPr>
            <a:r>
              <a:rPr sz="1350" b="1">
                <a:solidFill>
                  <a:srgbClr val="142D3B"/>
                </a:solidFill>
                <a:latin typeface="Arial"/>
                <a:ea typeface="Arial"/>
                <a:cs typeface="Arial"/>
              </a:rPr>
              <a:t>GHCR</a:t>
            </a:r>
          </a:p>
        </p:txBody>
      </p:sp>
      <p:sp>
        <p:nvSpPr>
          <p:cNvPr id="31" name="">
            <a:extLst xmlns:a="http://schemas.openxmlformats.org/drawingml/2006/main">
              <a:ext uri="{FF2B5EF4-FFF2-40B4-BE49-F238E27FC236}">
                <a16:creationId xmlns:a16="http://schemas.microsoft.com/office/drawing/2014/main" id="{115C6496-FC06-4A82-8C8E-CFE155FA6CCF}"/>
              </a:ext>
            </a:extLst>
          </p:cNvPr>
          <p:cNvSpPr>
            <a:spLocks xmlns:a="http://schemas.openxmlformats.org/drawingml/2006/main" noGrp="1"/>
          </p:cNvSpPr>
          <p:nvPr/>
        </p:nvSpPr>
        <p:spPr>
          <a:xfrm xmlns:a="http://schemas.openxmlformats.org/drawingml/2006/main">
            <a:off x="3190875" y="424815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627581"/>
                </a:solidFill>
                <a:latin typeface="Arial"/>
                <a:ea typeface="Arial"/>
                <a:cs typeface="Arial"/>
              </a:defRPr>
            </a:defPPr>
          </a:lstStyle>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Images tagged</a:t>
            </a:r>
          </a:p>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with commit SHA</a:t>
            </a:r>
          </a:p>
        </p:txBody>
      </p:sp>
      <p:sp>
        <p:nvSpPr>
          <p:cNvPr id="32" name="">
            <a:extLst xmlns:a="http://schemas.openxmlformats.org/drawingml/2006/main">
              <a:ext uri="{FF2B5EF4-FFF2-40B4-BE49-F238E27FC236}">
                <a16:creationId xmlns:a16="http://schemas.microsoft.com/office/drawing/2014/main" id="{C55952B2-6FD2-46AA-B6D1-A24B1CA2F941}"/>
              </a:ext>
            </a:extLst>
          </p:cNvPr>
          <p:cNvSpPr>
            <a:spLocks xmlns:a="http://schemas.openxmlformats.org/drawingml/2006/main" noGrp="1"/>
          </p:cNvSpPr>
          <p:nvPr/>
        </p:nvSpPr>
        <p:spPr>
          <a:xfrm xmlns:a="http://schemas.openxmlformats.org/drawingml/2006/main">
            <a:off x="5353050" y="3800475"/>
            <a:ext cx="1924050" cy="1057275"/>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9525">
            <a:solidFill>
              <a:srgbClr val="D8E0DE"/>
            </a:solidFill>
            <a:prstDash val="solid"/>
          </a:ln>
        </p:spPr>
      </p:sp>
      <p:sp>
        <p:nvSpPr>
          <p:cNvPr id="33" name="">
            <a:extLst xmlns:a="http://schemas.openxmlformats.org/drawingml/2006/main">
              <a:ext uri="{FF2B5EF4-FFF2-40B4-BE49-F238E27FC236}">
                <a16:creationId xmlns:a16="http://schemas.microsoft.com/office/drawing/2014/main" id="{31A8B3B4-E06F-4A4C-A225-AD44779756C4}"/>
              </a:ext>
            </a:extLst>
          </p:cNvPr>
          <p:cNvSpPr>
            <a:spLocks xmlns:a="http://schemas.openxmlformats.org/drawingml/2006/main" noGrp="1"/>
          </p:cNvSpPr>
          <p:nvPr/>
        </p:nvSpPr>
        <p:spPr>
          <a:xfrm xmlns:a="http://schemas.openxmlformats.org/drawingml/2006/main">
            <a:off x="5486400" y="3933825"/>
            <a:ext cx="1657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142D3B"/>
                </a:solidFill>
                <a:latin typeface="Arial"/>
                <a:ea typeface="Arial"/>
                <a:cs typeface="Arial"/>
              </a:defRPr>
            </a:defPPr>
          </a:lstStyle>
          <a:p xmlns:a="http://schemas.openxmlformats.org/drawingml/2006/main">
            <a:pPr algn="ctr">
              <a:lnSpc>
                <a:spcPct val="100000"/>
              </a:lnSpc>
              <a:buNone/>
              <a:defRPr sz="1350" b="1">
                <a:solidFill>
                  <a:srgbClr val="142D3B"/>
                </a:solidFill>
                <a:latin typeface="Arial"/>
                <a:ea typeface="Arial"/>
                <a:cs typeface="Arial"/>
              </a:defRPr>
            </a:pPr>
            <a:r>
              <a:rPr sz="1350" b="1">
                <a:solidFill>
                  <a:srgbClr val="142D3B"/>
                </a:solidFill>
                <a:latin typeface="Arial"/>
                <a:ea typeface="Arial"/>
                <a:cs typeface="Arial"/>
              </a:rPr>
              <a:t>Argo CD</a:t>
            </a:r>
          </a:p>
        </p:txBody>
      </p:sp>
      <p:sp>
        <p:nvSpPr>
          <p:cNvPr id="34" name="">
            <a:extLst xmlns:a="http://schemas.openxmlformats.org/drawingml/2006/main">
              <a:ext uri="{FF2B5EF4-FFF2-40B4-BE49-F238E27FC236}">
                <a16:creationId xmlns:a16="http://schemas.microsoft.com/office/drawing/2014/main" id="{458B97D5-7D4B-4C61-A10A-FA2D42E363CC}"/>
              </a:ext>
            </a:extLst>
          </p:cNvPr>
          <p:cNvSpPr>
            <a:spLocks xmlns:a="http://schemas.openxmlformats.org/drawingml/2006/main" noGrp="1"/>
          </p:cNvSpPr>
          <p:nvPr/>
        </p:nvSpPr>
        <p:spPr>
          <a:xfrm xmlns:a="http://schemas.openxmlformats.org/drawingml/2006/main">
            <a:off x="5476875" y="4248150"/>
            <a:ext cx="1676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627581"/>
                </a:solidFill>
                <a:latin typeface="Arial"/>
                <a:ea typeface="Arial"/>
                <a:cs typeface="Arial"/>
              </a:defRPr>
            </a:defPPr>
          </a:lstStyle>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Watches Git</a:t>
            </a:r>
          </a:p>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Helm application</a:t>
            </a:r>
          </a:p>
        </p:txBody>
      </p:sp>
      <p:sp>
        <p:nvSpPr>
          <p:cNvPr id="35" name="">
            <a:extLst xmlns:a="http://schemas.openxmlformats.org/drawingml/2006/main">
              <a:ext uri="{FF2B5EF4-FFF2-40B4-BE49-F238E27FC236}">
                <a16:creationId xmlns:a16="http://schemas.microsoft.com/office/drawing/2014/main" id="{ABAB080B-39D9-44D7-84A0-D4257E689397}"/>
              </a:ext>
            </a:extLst>
          </p:cNvPr>
          <p:cNvSpPr>
            <a:spLocks xmlns:a="http://schemas.openxmlformats.org/drawingml/2006/main" noGrp="1"/>
          </p:cNvSpPr>
          <p:nvPr/>
        </p:nvSpPr>
        <p:spPr>
          <a:xfrm xmlns:a="http://schemas.openxmlformats.org/drawingml/2006/main">
            <a:off x="7658100" y="3800475"/>
            <a:ext cx="3124200" cy="1057275"/>
          </a:xfrm>
          <a:prstGeom xmlns:a="http://schemas.openxmlformats.org/drawingml/2006/main" prst="roundRect">
            <a:avLst>
              <a:gd name="adj" fmla="val 7207"/>
            </a:avLst>
          </a:prstGeom>
          <a:solidFill xmlns:a="http://schemas.openxmlformats.org/drawingml/2006/main">
            <a:srgbClr val="102B3B"/>
          </a:solidFill>
          <a:ln xmlns:a="http://schemas.openxmlformats.org/drawingml/2006/main" w="9525">
            <a:solidFill>
              <a:srgbClr val="D8E0DE"/>
            </a:solidFill>
            <a:prstDash val="solid"/>
          </a:ln>
        </p:spPr>
      </p:sp>
      <p:sp>
        <p:nvSpPr>
          <p:cNvPr id="36" name="">
            <a:extLst xmlns:a="http://schemas.openxmlformats.org/drawingml/2006/main">
              <a:ext uri="{FF2B5EF4-FFF2-40B4-BE49-F238E27FC236}">
                <a16:creationId xmlns:a16="http://schemas.microsoft.com/office/drawing/2014/main" id="{FA7EB976-D0C1-4E1A-9062-99A3715E928A}"/>
              </a:ext>
            </a:extLst>
          </p:cNvPr>
          <p:cNvSpPr>
            <a:spLocks xmlns:a="http://schemas.openxmlformats.org/drawingml/2006/main" noGrp="1"/>
          </p:cNvSpPr>
          <p:nvPr/>
        </p:nvSpPr>
        <p:spPr>
          <a:xfrm xmlns:a="http://schemas.openxmlformats.org/drawingml/2006/main">
            <a:off x="7791450" y="3933825"/>
            <a:ext cx="285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AWS EKS · ap-south-1</a:t>
            </a:r>
          </a:p>
        </p:txBody>
      </p:sp>
      <p:sp>
        <p:nvSpPr>
          <p:cNvPr id="37" name="">
            <a:extLst xmlns:a="http://schemas.openxmlformats.org/drawingml/2006/main">
              <a:ext uri="{FF2B5EF4-FFF2-40B4-BE49-F238E27FC236}">
                <a16:creationId xmlns:a16="http://schemas.microsoft.com/office/drawing/2014/main" id="{4F37745A-F33F-452C-A752-3A1C3B3F7B81}"/>
              </a:ext>
            </a:extLst>
          </p:cNvPr>
          <p:cNvSpPr>
            <a:spLocks xmlns:a="http://schemas.openxmlformats.org/drawingml/2006/main" noGrp="1"/>
          </p:cNvSpPr>
          <p:nvPr/>
        </p:nvSpPr>
        <p:spPr>
          <a:xfrm xmlns:a="http://schemas.openxmlformats.org/drawingml/2006/main">
            <a:off x="7781925" y="4248150"/>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DBE6E7"/>
                </a:solidFill>
                <a:latin typeface="Arial"/>
                <a:ea typeface="Arial"/>
                <a:cs typeface="Arial"/>
              </a:defRPr>
            </a:defPPr>
          </a:lstStyle>
          <a:p xmlns:a="http://schemas.openxmlformats.org/drawingml/2006/main">
            <a:pPr algn="ctr">
              <a:lnSpc>
                <a:spcPct val="100000"/>
              </a:lnSpc>
              <a:buNone/>
              <a:defRPr sz="1050" b="0">
                <a:solidFill>
                  <a:srgbClr val="DBE6E7"/>
                </a:solidFill>
                <a:latin typeface="Arial"/>
                <a:ea typeface="Arial"/>
                <a:cs typeface="Arial"/>
              </a:defRPr>
            </a:pPr>
            <a:r>
              <a:rPr sz="1050" b="0">
                <a:solidFill>
                  <a:srgbClr val="DBE6E7"/>
                </a:solidFill>
                <a:latin typeface="Arial"/>
                <a:ea typeface="Arial"/>
                <a:cs typeface="Arial"/>
              </a:rPr>
              <a:t>2 AZs • managed nodes • HPA</a:t>
            </a:r>
          </a:p>
          <a:p xmlns:a="http://schemas.openxmlformats.org/drawingml/2006/main">
            <a:pPr algn="ctr">
              <a:lnSpc>
                <a:spcPct val="100000"/>
              </a:lnSpc>
              <a:buNone/>
              <a:defRPr sz="1050" b="0">
                <a:solidFill>
                  <a:srgbClr val="DBE6E7"/>
                </a:solidFill>
                <a:latin typeface="Arial"/>
                <a:ea typeface="Arial"/>
                <a:cs typeface="Arial"/>
              </a:defRPr>
            </a:pPr>
            <a:r>
              <a:rPr sz="1050" b="0">
                <a:solidFill>
                  <a:srgbClr val="DBE6E7"/>
                </a:solidFill>
                <a:latin typeface="Arial"/>
                <a:ea typeface="Arial"/>
                <a:cs typeface="Arial"/>
              </a:rPr>
              <a:t>Prometheus + Grafana</a:t>
            </a:r>
          </a:p>
        </p:txBody>
      </p:sp>
      <p:sp>
        <p:nvSpPr>
          <p:cNvPr id="38" name="">
            <a:extLst xmlns:a="http://schemas.openxmlformats.org/drawingml/2006/main">
              <a:ext uri="{FF2B5EF4-FFF2-40B4-BE49-F238E27FC236}">
                <a16:creationId xmlns:a16="http://schemas.microsoft.com/office/drawing/2014/main" id="{9F99FFF1-978E-4794-8FAD-710B176DD78B}"/>
              </a:ext>
            </a:extLst>
          </p:cNvPr>
          <p:cNvSpPr>
            <a:spLocks xmlns:a="http://schemas.openxmlformats.org/drawingml/2006/main" noGrp="1"/>
          </p:cNvSpPr>
          <p:nvPr/>
        </p:nvSpPr>
        <p:spPr>
          <a:xfrm xmlns:a="http://schemas.openxmlformats.org/drawingml/2006/main">
            <a:off x="2724150" y="4210050"/>
            <a:ext cx="304800" cy="238125"/>
          </a:xfrm>
          <a:prstGeom xmlns:a="http://schemas.openxmlformats.org/drawingml/2006/main" prst="rightArrow">
            <a:avLst/>
          </a:prstGeom>
          <a:solidFill xmlns:a="http://schemas.openxmlformats.org/drawingml/2006/main">
            <a:srgbClr val="E9A54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371335F-8536-49AC-B6F8-35461A6C0723}"/>
              </a:ext>
            </a:extLst>
          </p:cNvPr>
          <p:cNvSpPr>
            <a:spLocks xmlns:a="http://schemas.openxmlformats.org/drawingml/2006/main" noGrp="1"/>
          </p:cNvSpPr>
          <p:nvPr/>
        </p:nvSpPr>
        <p:spPr>
          <a:xfrm xmlns:a="http://schemas.openxmlformats.org/drawingml/2006/main">
            <a:off x="5010150" y="4210050"/>
            <a:ext cx="304800" cy="238125"/>
          </a:xfrm>
          <a:prstGeom xmlns:a="http://schemas.openxmlformats.org/drawingml/2006/main" prst="rightArrow">
            <a:avLst/>
          </a:prstGeom>
          <a:solidFill xmlns:a="http://schemas.openxmlformats.org/drawingml/2006/main">
            <a:srgbClr val="E9A54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5412E13E-EAB9-4EC0-BBF1-E6E9DA7A7A41}"/>
              </a:ext>
            </a:extLst>
          </p:cNvPr>
          <p:cNvSpPr>
            <a:spLocks xmlns:a="http://schemas.openxmlformats.org/drawingml/2006/main" noGrp="1"/>
          </p:cNvSpPr>
          <p:nvPr/>
        </p:nvSpPr>
        <p:spPr>
          <a:xfrm xmlns:a="http://schemas.openxmlformats.org/drawingml/2006/main">
            <a:off x="7315200" y="4210050"/>
            <a:ext cx="304800" cy="238125"/>
          </a:xfrm>
          <a:prstGeom xmlns:a="http://schemas.openxmlformats.org/drawingml/2006/main" prst="rightArrow">
            <a:avLst/>
          </a:prstGeom>
          <a:solidFill xmlns:a="http://schemas.openxmlformats.org/drawingml/2006/main">
            <a:srgbClr val="E9A54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04E20FA-F7A8-40F0-B4C8-5EE15DAE69F2}"/>
              </a:ext>
            </a:extLst>
          </p:cNvPr>
          <p:cNvSpPr>
            <a:spLocks xmlns:a="http://schemas.openxmlformats.org/drawingml/2006/main" noGrp="1"/>
          </p:cNvSpPr>
          <p:nvPr/>
        </p:nvSpPr>
        <p:spPr>
          <a:xfrm xmlns:a="http://schemas.openxmlformats.org/drawingml/2006/main">
            <a:off x="7905750" y="3105150"/>
            <a:ext cx="3676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1">
                <a:solidFill>
                  <a:srgbClr val="167C80"/>
                </a:solidFill>
                <a:latin typeface="Arial"/>
                <a:ea typeface="Arial"/>
                <a:cs typeface="Arial"/>
              </a:defRPr>
            </a:defPPr>
          </a:lstStyle>
          <a:p xmlns:a="http://schemas.openxmlformats.org/drawingml/2006/main">
            <a:pPr algn="r">
              <a:lnSpc>
                <a:spcPct val="100000"/>
              </a:lnSpc>
              <a:buNone/>
              <a:defRPr sz="900" b="1">
                <a:solidFill>
                  <a:srgbClr val="167C80"/>
                </a:solidFill>
                <a:latin typeface="Arial"/>
                <a:ea typeface="Arial"/>
                <a:cs typeface="Arial"/>
              </a:defRPr>
            </a:pPr>
            <a:r>
              <a:rPr sz="900" b="1">
                <a:solidFill>
                  <a:srgbClr val="167C80"/>
                </a:solidFill>
                <a:latin typeface="Arial"/>
                <a:ea typeface="Arial"/>
                <a:cs typeface="Arial"/>
              </a:rPr>
              <a:t>Observability: Prometheus collects metrics → Grafana dashboards</a:t>
            </a:r>
          </a:p>
        </p:txBody>
      </p:sp>
      <p:sp>
        <p:nvSpPr>
          <p:cNvPr id="42" name="">
            <a:extLst xmlns:a="http://schemas.openxmlformats.org/drawingml/2006/main">
              <a:ext uri="{FF2B5EF4-FFF2-40B4-BE49-F238E27FC236}">
                <a16:creationId xmlns:a16="http://schemas.microsoft.com/office/drawing/2014/main" id="{85191C60-AEF9-4F60-92C0-28DE665DD715}"/>
              </a:ext>
            </a:extLst>
          </p:cNvPr>
          <p:cNvSpPr>
            <a:spLocks xmlns:a="http://schemas.openxmlformats.org/drawingml/2006/main" noGrp="1"/>
          </p:cNvSpPr>
          <p:nvPr/>
        </p:nvSpPr>
        <p:spPr>
          <a:xfrm xmlns:a="http://schemas.openxmlformats.org/drawingml/2006/main">
            <a:off x="609600" y="52578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627581"/>
                </a:solidFill>
                <a:latin typeface="Arial"/>
                <a:ea typeface="Arial"/>
                <a:cs typeface="Arial"/>
              </a:defRPr>
            </a:defPPr>
          </a:lstStyle>
          <a:p xmlns:a="http://schemas.openxmlformats.org/drawingml/2006/main">
            <a:pPr algn="l">
              <a:lnSpc>
                <a:spcPct val="100000"/>
              </a:lnSpc>
              <a:buNone/>
              <a:defRPr sz="1200" b="0">
                <a:solidFill>
                  <a:srgbClr val="627581"/>
                </a:solidFill>
                <a:latin typeface="Arial"/>
                <a:ea typeface="Arial"/>
                <a:cs typeface="Arial"/>
              </a:defRPr>
            </a:pPr>
            <a:r>
              <a:rPr sz="1200" b="0">
                <a:solidFill>
                  <a:srgbClr val="627581"/>
                </a:solidFill>
                <a:latin typeface="Arial"/>
                <a:ea typeface="Arial"/>
                <a:cs typeface="Arial"/>
              </a:rPr>
              <a:t>Traffic uses the Ingress; release automation uses Git and registry images.</a:t>
            </a:r>
          </a:p>
        </p:txBody>
      </p:sp>
      <p:sp>
        <p:nvSpPr>
          <p:cNvPr id="43" name="">
            <a:extLst xmlns:a="http://schemas.openxmlformats.org/drawingml/2006/main">
              <a:ext uri="{FF2B5EF4-FFF2-40B4-BE49-F238E27FC236}">
                <a16:creationId xmlns:a16="http://schemas.microsoft.com/office/drawing/2014/main" id="{AEA4B9D5-7149-4137-B832-DE099A3DC4A1}"/>
              </a:ext>
            </a:extLst>
          </p:cNvPr>
          <p:cNvSpPr>
            <a:spLocks xmlns:a="http://schemas.openxmlformats.org/drawingml/2006/main" noGrp="1"/>
          </p:cNvSpPr>
          <p:nvPr/>
        </p:nvSpPr>
        <p:spPr>
          <a:xfrm xmlns:a="http://schemas.openxmlformats.org/drawingml/2006/main">
            <a:off x="609600" y="5676900"/>
            <a:ext cx="10972800" cy="476250"/>
          </a:xfrm>
          <a:prstGeom xmlns:a="http://schemas.openxmlformats.org/drawingml/2006/main" prst="roundRect">
            <a:avLst>
              <a:gd name="adj" fmla="val 16000"/>
            </a:avLst>
          </a:prstGeom>
          <a:solidFill xmlns:a="http://schemas.openxmlformats.org/drawingml/2006/main">
            <a:srgbClr val="FFF0D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6F4876B1-4306-4449-83FC-D883D0E7E45B}"/>
              </a:ext>
            </a:extLst>
          </p:cNvPr>
          <p:cNvSpPr>
            <a:spLocks xmlns:a="http://schemas.openxmlformats.org/drawingml/2006/main" noGrp="1"/>
          </p:cNvSpPr>
          <p:nvPr/>
        </p:nvSpPr>
        <p:spPr>
          <a:xfrm xmlns:a="http://schemas.openxmlformats.org/drawingml/2006/main">
            <a:off x="781050" y="5753100"/>
            <a:ext cx="1062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42D3B"/>
                </a:solidFill>
                <a:latin typeface="Arial"/>
                <a:ea typeface="Arial"/>
                <a:cs typeface="Arial"/>
              </a:defRPr>
            </a:defPPr>
          </a:lstStyle>
          <a:p xmlns:a="http://schemas.openxmlformats.org/drawingml/2006/main">
            <a:pPr algn="l">
              <a:lnSpc>
                <a:spcPct val="100000"/>
              </a:lnSpc>
              <a:buNone/>
              <a:defRPr sz="1050" b="1">
                <a:solidFill>
                  <a:srgbClr val="142D3B"/>
                </a:solidFill>
                <a:latin typeface="Arial"/>
                <a:ea typeface="Arial"/>
                <a:cs typeface="Arial"/>
              </a:defRPr>
            </a:pPr>
            <a:r>
              <a:rPr sz="1050" b="1">
                <a:solidFill>
                  <a:srgbClr val="142D3B"/>
                </a:solidFill>
                <a:latin typeface="Arial"/>
                <a:ea typeface="Arial"/>
                <a:cs typeface="Arial"/>
              </a:rPr>
              <a:t>Status note: GitHub tests/build/scan passed; the optional Actions → AWS deploy job was skipped. Argo CD sync was verified separately.</a:t>
            </a:r>
          </a:p>
        </p:txBody>
      </p:sp>
    </p:spTree>
    <p:extLst>
      <p:ext uri="{BB962C8B-B14F-4D97-AF65-F5344CB8AC3E}">
        <p14:creationId xmlns:p14="http://schemas.microsoft.com/office/powerpoint/2010/main" val="1027539217"/>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D819F34-66C7-4BA9-B007-776339476B82}"/>
              </a:ext>
            </a:extLst>
          </p:cNvPr>
          <p:cNvSpPr>
            <a:spLocks xmlns:a="http://schemas.openxmlformats.org/drawingml/2006/main" noGrp="1"/>
          </p:cNvSpPr>
          <p:nvPr/>
        </p:nvSpPr>
        <p:spPr>
          <a:xfrm xmlns:a="http://schemas.openxmlformats.org/drawingml/2006/main">
            <a:off x="609600" y="323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67C80"/>
                </a:solidFill>
                <a:latin typeface="Arial"/>
                <a:ea typeface="Arial"/>
                <a:cs typeface="Arial"/>
              </a:defRPr>
            </a:defPPr>
          </a:lstStyle>
          <a:p xmlns:a="http://schemas.openxmlformats.org/drawingml/2006/main">
            <a:pPr algn="l">
              <a:lnSpc>
                <a:spcPct val="100000"/>
              </a:lnSpc>
              <a:buNone/>
              <a:defRPr sz="975" b="1">
                <a:solidFill>
                  <a:srgbClr val="167C80"/>
                </a:solidFill>
                <a:latin typeface="Arial"/>
                <a:ea typeface="Arial"/>
                <a:cs typeface="Arial"/>
              </a:defRPr>
            </a:pPr>
            <a:r>
              <a:rPr sz="975" b="1">
                <a:solidFill>
                  <a:srgbClr val="167C80"/>
                </a:solidFill>
                <a:latin typeface="Arial"/>
                <a:ea typeface="Arial"/>
                <a:cs typeface="Arial"/>
              </a:rPr>
              <a:t>03  /  CONTINUOUS DELIVERY</a:t>
            </a:r>
          </a:p>
        </p:txBody>
      </p:sp>
      <p:sp>
        <p:nvSpPr>
          <p:cNvPr id="2" name="">
            <a:extLst xmlns:a="http://schemas.openxmlformats.org/drawingml/2006/main">
              <a:ext uri="{FF2B5EF4-FFF2-40B4-BE49-F238E27FC236}">
                <a16:creationId xmlns:a16="http://schemas.microsoft.com/office/drawing/2014/main" id="{685A7E2F-FE1D-4130-AEB7-0F7463F9827E}"/>
              </a:ext>
            </a:extLst>
          </p:cNvPr>
          <p:cNvSpPr>
            <a:spLocks xmlns:a="http://schemas.openxmlformats.org/drawingml/2006/main" noGrp="1"/>
          </p:cNvSpPr>
          <p:nvPr/>
        </p:nvSpPr>
        <p:spPr>
          <a:xfrm xmlns:a="http://schemas.openxmlformats.org/drawingml/2006/main">
            <a:off x="609600" y="581025"/>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42D3B"/>
                </a:solidFill>
                <a:latin typeface="Arial"/>
                <a:ea typeface="Arial"/>
                <a:cs typeface="Arial"/>
              </a:defRPr>
            </a:defPPr>
          </a:lstStyle>
          <a:p xmlns:a="http://schemas.openxmlformats.org/drawingml/2006/main">
            <a:pPr algn="l">
              <a:lnSpc>
                <a:spcPct val="100000"/>
              </a:lnSpc>
              <a:buNone/>
              <a:defRPr sz="2550" b="1">
                <a:solidFill>
                  <a:srgbClr val="142D3B"/>
                </a:solidFill>
                <a:latin typeface="Arial"/>
                <a:ea typeface="Arial"/>
                <a:cs typeface="Arial"/>
              </a:defRPr>
            </a:pPr>
            <a:r>
              <a:rPr sz="2550" b="1">
                <a:solidFill>
                  <a:srgbClr val="142D3B"/>
                </a:solidFill>
                <a:latin typeface="Arial"/>
                <a:ea typeface="Arial"/>
                <a:cs typeface="Arial"/>
              </a:rPr>
              <a:t>Every image has a commit behind it</a:t>
            </a:r>
          </a:p>
        </p:txBody>
      </p:sp>
      <p:sp>
        <p:nvSpPr>
          <p:cNvPr id="3" name="">
            <a:extLst xmlns:a="http://schemas.openxmlformats.org/drawingml/2006/main">
              <a:ext uri="{FF2B5EF4-FFF2-40B4-BE49-F238E27FC236}">
                <a16:creationId xmlns:a16="http://schemas.microsoft.com/office/drawing/2014/main" id="{EF65B973-9592-4A40-B7CB-7111958EB2CA}"/>
              </a:ext>
            </a:extLst>
          </p:cNvPr>
          <p:cNvSpPr>
            <a:spLocks xmlns:a="http://schemas.openxmlformats.org/drawingml/2006/main" noGrp="1"/>
          </p:cNvSpPr>
          <p:nvPr/>
        </p:nvSpPr>
        <p:spPr>
          <a:xfrm xmlns:a="http://schemas.openxmlformats.org/drawingml/2006/main">
            <a:off x="628650" y="1114425"/>
            <a:ext cx="1093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627581"/>
                </a:solidFill>
                <a:latin typeface="Arial"/>
                <a:ea typeface="Arial"/>
                <a:cs typeface="Arial"/>
              </a:defRPr>
            </a:defPPr>
          </a:lstStyle>
          <a:p xmlns:a="http://schemas.openxmlformats.org/drawingml/2006/main">
            <a:pPr algn="l">
              <a:lnSpc>
                <a:spcPct val="100000"/>
              </a:lnSpc>
              <a:buNone/>
              <a:defRPr sz="1275" b="0">
                <a:solidFill>
                  <a:srgbClr val="627581"/>
                </a:solidFill>
                <a:latin typeface="Arial"/>
                <a:ea typeface="Arial"/>
                <a:cs typeface="Arial"/>
              </a:defRPr>
            </a:pPr>
            <a:r>
              <a:rPr sz="1275" b="0">
                <a:solidFill>
                  <a:srgbClr val="627581"/>
                </a:solidFill>
                <a:latin typeface="Arial"/>
                <a:ea typeface="Arial"/>
                <a:cs typeface="Arial"/>
              </a:rPr>
              <a:t>The green checks are the gate before a release is published.</a:t>
            </a:r>
          </a:p>
        </p:txBody>
      </p:sp>
      <p:sp>
        <p:nvSpPr>
          <p:cNvPr id="4" name="">
            <a:extLst xmlns:a="http://schemas.openxmlformats.org/drawingml/2006/main">
              <a:ext uri="{FF2B5EF4-FFF2-40B4-BE49-F238E27FC236}">
                <a16:creationId xmlns:a16="http://schemas.microsoft.com/office/drawing/2014/main" id="{93A75CFD-D3F6-4030-8A50-4BCD4302B654}"/>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D8E0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F9A845B-E93C-479E-848E-B3D8C846C731}"/>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27581"/>
                </a:solidFill>
                <a:latin typeface="Arial"/>
                <a:ea typeface="Arial"/>
                <a:cs typeface="Arial"/>
              </a:defRPr>
            </a:defPPr>
          </a:lstStyle>
          <a:p xmlns:a="http://schemas.openxmlformats.org/drawingml/2006/main">
            <a:pPr algn="l">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STOCKPILOT  •  DEVOPS CAPSTONE</a:t>
            </a:r>
          </a:p>
        </p:txBody>
      </p:sp>
      <p:sp>
        <p:nvSpPr>
          <p:cNvPr id="6" name="">
            <a:extLst xmlns:a="http://schemas.openxmlformats.org/drawingml/2006/main">
              <a:ext uri="{FF2B5EF4-FFF2-40B4-BE49-F238E27FC236}">
                <a16:creationId xmlns:a16="http://schemas.microsoft.com/office/drawing/2014/main" id="{97E57A8F-7BC3-477A-8197-B1A55CA676C0}"/>
              </a:ext>
            </a:extLst>
          </p:cNvPr>
          <p:cNvSpPr>
            <a:spLocks xmlns:a="http://schemas.openxmlformats.org/drawingml/2006/main" noGrp="1"/>
          </p:cNvSpPr>
          <p:nvPr/>
        </p:nvSpPr>
        <p:spPr>
          <a:xfrm xmlns:a="http://schemas.openxmlformats.org/drawingml/2006/main">
            <a:off x="11096625" y="64865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627581"/>
                </a:solidFill>
                <a:latin typeface="Arial"/>
                <a:ea typeface="Arial"/>
                <a:cs typeface="Arial"/>
              </a:defRPr>
            </a:defPPr>
          </a:lstStyle>
          <a:p xmlns:a="http://schemas.openxmlformats.org/drawingml/2006/main">
            <a:pPr algn="r">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04</a:t>
            </a:r>
          </a:p>
        </p:txBody>
      </p:sp>
      <p:sp>
        <p:nvSpPr>
          <p:cNvPr id="7" name="screenshot-frame">
            <a:extLst xmlns:a="http://schemas.openxmlformats.org/drawingml/2006/main">
              <a:ext uri="{FF2B5EF4-FFF2-40B4-BE49-F238E27FC236}">
                <a16:creationId xmlns:a16="http://schemas.microsoft.com/office/drawing/2014/main" id="{EDC8A66F-B7FF-49EA-9ADF-B68BE275DB0A}"/>
              </a:ext>
            </a:extLst>
          </p:cNvPr>
          <p:cNvSpPr>
            <a:spLocks xmlns:a="http://schemas.openxmlformats.org/drawingml/2006/main" noGrp="1"/>
          </p:cNvSpPr>
          <p:nvPr/>
        </p:nvSpPr>
        <p:spPr>
          <a:xfrm xmlns:a="http://schemas.openxmlformats.org/drawingml/2006/main">
            <a:off x="571500" y="1619250"/>
            <a:ext cx="6648450" cy="4038600"/>
          </a:xfrm>
          <a:prstGeom xmlns:a="http://schemas.openxmlformats.org/drawingml/2006/main" prst="roundRect">
            <a:avLst>
              <a:gd name="adj" fmla="val 1887"/>
            </a:avLst>
          </a:prstGeom>
          <a:solidFill xmlns:a="http://schemas.openxmlformats.org/drawingml/2006/main">
            <a:srgbClr val="FFFFFF"/>
          </a:solidFill>
          <a:ln xmlns:a="http://schemas.openxmlformats.org/drawingml/2006/main" w="9525">
            <a:solidFill>
              <a:srgbClr val="D8E0DE"/>
            </a:solidFill>
            <a:prstDash val="solid"/>
          </a:ln>
        </p:spPr>
      </p:sp>
      <p:pic>
        <p:nvPicPr>
          <p:cNvPr id="8" name="">
            <a:extLst xmlns:a="http://schemas.openxmlformats.org/drawingml/2006/main">
              <a:ext uri="{FF2B5EF4-FFF2-40B4-BE49-F238E27FC236}">
                <a16:creationId xmlns:a16="http://schemas.microsoft.com/office/drawing/2014/main" id="{3532A8AB-822F-45F1-B4C0-738F43F9526C}"/>
              </a:ext>
            </a:extLst>
          </p:cNvPr>
          <p:cNvPicPr>
            <a:picLocks xmlns:a="http://schemas.openxmlformats.org/drawingml/2006/main" noChangeAspect="1"/>
          </p:cNvPicPr>
          <p:nvPr/>
        </p:nvPicPr>
        <p:blipFill>
          <a:blip xmlns:r="http://schemas.openxmlformats.org/officeDocument/2006/relationships" xmlns:a="http://schemas.openxmlformats.org/drawingml/2006/main" r:embed="Rf3ae8097c2324a05"/>
          <a:stretch xmlns:a="http://schemas.openxmlformats.org/drawingml/2006/main"/>
        </p:blipFill>
        <p:spPr>
          <a:xfrm xmlns:a="http://schemas.openxmlformats.org/drawingml/2006/main">
            <a:off x="609600" y="2144273"/>
            <a:ext cx="6572250" cy="2988554"/>
          </a:xfrm>
          <a:prstGeom xmlns:a="http://schemas.openxmlformats.org/drawingml/2006/main" prst="roundRect">
            <a:avLst>
              <a:gd name="adj" fmla="val 2404"/>
            </a:avLst>
          </a:prstGeom>
        </p:spPr>
      </p:pic>
      <p:sp>
        <p:nvSpPr>
          <p:cNvPr id="9" name="">
            <a:extLst xmlns:a="http://schemas.openxmlformats.org/drawingml/2006/main">
              <a:ext uri="{FF2B5EF4-FFF2-40B4-BE49-F238E27FC236}">
                <a16:creationId xmlns:a16="http://schemas.microsoft.com/office/drawing/2014/main" id="{99BAEA23-BE3C-4B21-A90C-7C97B7F1B10C}"/>
              </a:ext>
            </a:extLst>
          </p:cNvPr>
          <p:cNvSpPr>
            <a:spLocks xmlns:a="http://schemas.openxmlformats.org/drawingml/2006/main" noGrp="1"/>
          </p:cNvSpPr>
          <p:nvPr/>
        </p:nvSpPr>
        <p:spPr>
          <a:xfrm xmlns:a="http://schemas.openxmlformats.org/drawingml/2006/main">
            <a:off x="7658100" y="1724025"/>
            <a:ext cx="895350" cy="247650"/>
          </a:xfrm>
          <a:prstGeom xmlns:a="http://schemas.openxmlformats.org/drawingml/2006/main" prst="roundRect">
            <a:avLst>
              <a:gd name="adj" fmla="val 30769"/>
            </a:avLst>
          </a:prstGeom>
          <a:solidFill xmlns:a="http://schemas.openxmlformats.org/drawingml/2006/main">
            <a:srgbClr val="167C8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9F3534F-DC8D-4B25-99AC-AA4D4903B2CA}"/>
              </a:ext>
            </a:extLst>
          </p:cNvPr>
          <p:cNvSpPr>
            <a:spLocks xmlns:a="http://schemas.openxmlformats.org/drawingml/2006/main" noGrp="1"/>
          </p:cNvSpPr>
          <p:nvPr/>
        </p:nvSpPr>
        <p:spPr>
          <a:xfrm xmlns:a="http://schemas.openxmlformats.org/drawingml/2006/main">
            <a:off x="7753350" y="1733550"/>
            <a:ext cx="704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FFFFFF"/>
                </a:solidFill>
                <a:latin typeface="Arial"/>
                <a:ea typeface="Arial"/>
                <a:cs typeface="Arial"/>
              </a:defRPr>
            </a:def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PIPELINE</a:t>
            </a:r>
          </a:p>
        </p:txBody>
      </p:sp>
      <p:sp>
        <p:nvSpPr>
          <p:cNvPr id="11" name="">
            <a:extLst xmlns:a="http://schemas.openxmlformats.org/drawingml/2006/main">
              <a:ext uri="{FF2B5EF4-FFF2-40B4-BE49-F238E27FC236}">
                <a16:creationId xmlns:a16="http://schemas.microsoft.com/office/drawing/2014/main" id="{645907CB-D638-4C54-9491-2A8A34E1A962}"/>
              </a:ext>
            </a:extLst>
          </p:cNvPr>
          <p:cNvSpPr>
            <a:spLocks xmlns:a="http://schemas.openxmlformats.org/drawingml/2006/main" noGrp="1"/>
          </p:cNvSpPr>
          <p:nvPr/>
        </p:nvSpPr>
        <p:spPr>
          <a:xfrm xmlns:a="http://schemas.openxmlformats.org/drawingml/2006/main">
            <a:off x="7677150" y="2171700"/>
            <a:ext cx="323850" cy="323850"/>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27F7B06-7B6F-42B9-A7F1-00A6000557AA}"/>
              </a:ext>
            </a:extLst>
          </p:cNvPr>
          <p:cNvSpPr>
            <a:spLocks xmlns:a="http://schemas.openxmlformats.org/drawingml/2006/main" noGrp="1"/>
          </p:cNvSpPr>
          <p:nvPr/>
        </p:nvSpPr>
        <p:spPr>
          <a:xfrm xmlns:a="http://schemas.openxmlformats.org/drawingml/2006/main">
            <a:off x="7677150" y="21717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FFFFFF"/>
                </a:solidFill>
                <a:latin typeface="Arial"/>
                <a:ea typeface="Arial"/>
                <a:cs typeface="Arial"/>
              </a:defRPr>
            </a:defPPr>
          </a:lstStyle>
          <a:p xmlns:a="http://schemas.openxmlformats.org/drawingml/2006/main">
            <a:pPr algn="ctr">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13" name="">
            <a:extLst xmlns:a="http://schemas.openxmlformats.org/drawingml/2006/main">
              <a:ext uri="{FF2B5EF4-FFF2-40B4-BE49-F238E27FC236}">
                <a16:creationId xmlns:a16="http://schemas.microsoft.com/office/drawing/2014/main" id="{6CFBF49F-8A84-4E39-82DF-AECBFF19CF23}"/>
              </a:ext>
            </a:extLst>
          </p:cNvPr>
          <p:cNvSpPr>
            <a:spLocks xmlns:a="http://schemas.openxmlformats.org/drawingml/2006/main" noGrp="1"/>
          </p:cNvSpPr>
          <p:nvPr/>
        </p:nvSpPr>
        <p:spPr>
          <a:xfrm xmlns:a="http://schemas.openxmlformats.org/drawingml/2006/main">
            <a:off x="8143875" y="215265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42D3B"/>
                </a:solidFill>
                <a:latin typeface="Arial"/>
                <a:ea typeface="Arial"/>
                <a:cs typeface="Arial"/>
              </a:defRPr>
            </a:defPPr>
          </a:lstStyle>
          <a:p xmlns:a="http://schemas.openxmlformats.org/drawingml/2006/main">
            <a:pPr algn="l">
              <a:lnSpc>
                <a:spcPct val="100000"/>
              </a:lnSpc>
              <a:buNone/>
              <a:defRPr sz="1425" b="1">
                <a:solidFill>
                  <a:srgbClr val="142D3B"/>
                </a:solidFill>
                <a:latin typeface="Arial"/>
                <a:ea typeface="Arial"/>
                <a:cs typeface="Arial"/>
              </a:defRPr>
            </a:pPr>
            <a:r>
              <a:rPr sz="1425" b="1">
                <a:solidFill>
                  <a:srgbClr val="142D3B"/>
                </a:solidFill>
                <a:latin typeface="Arial"/>
                <a:ea typeface="Arial"/>
                <a:cs typeface="Arial"/>
              </a:rPr>
              <a:t>Test</a:t>
            </a:r>
          </a:p>
        </p:txBody>
      </p:sp>
      <p:sp>
        <p:nvSpPr>
          <p:cNvPr id="14" name="">
            <a:extLst xmlns:a="http://schemas.openxmlformats.org/drawingml/2006/main">
              <a:ext uri="{FF2B5EF4-FFF2-40B4-BE49-F238E27FC236}">
                <a16:creationId xmlns:a16="http://schemas.microsoft.com/office/drawing/2014/main" id="{E2E314BB-0B6B-405D-80C7-E19CBC898613}"/>
              </a:ext>
            </a:extLst>
          </p:cNvPr>
          <p:cNvSpPr>
            <a:spLocks xmlns:a="http://schemas.openxmlformats.org/drawingml/2006/main" noGrp="1"/>
          </p:cNvSpPr>
          <p:nvPr/>
        </p:nvSpPr>
        <p:spPr>
          <a:xfrm xmlns:a="http://schemas.openxmlformats.org/drawingml/2006/main">
            <a:off x="8143875" y="2428875"/>
            <a:ext cx="3086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627581"/>
                </a:solidFill>
                <a:latin typeface="Arial"/>
                <a:ea typeface="Arial"/>
                <a:cs typeface="Arial"/>
              </a:defRPr>
            </a:defPPr>
          </a:lstStyle>
          <a:p xmlns:a="http://schemas.openxmlformats.org/drawingml/2006/main">
            <a:pPr algn="l">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PostgreSQL-backed API tests and frontend checks</a:t>
            </a:r>
          </a:p>
        </p:txBody>
      </p:sp>
      <p:sp>
        <p:nvSpPr>
          <p:cNvPr id="15" name="">
            <a:extLst xmlns:a="http://schemas.openxmlformats.org/drawingml/2006/main">
              <a:ext uri="{FF2B5EF4-FFF2-40B4-BE49-F238E27FC236}">
                <a16:creationId xmlns:a16="http://schemas.microsoft.com/office/drawing/2014/main" id="{21E5AF9A-1C49-47D5-A2AE-6FA2CD0A7A63}"/>
              </a:ext>
            </a:extLst>
          </p:cNvPr>
          <p:cNvSpPr>
            <a:spLocks xmlns:a="http://schemas.openxmlformats.org/drawingml/2006/main" noGrp="1"/>
          </p:cNvSpPr>
          <p:nvPr/>
        </p:nvSpPr>
        <p:spPr>
          <a:xfrm xmlns:a="http://schemas.openxmlformats.org/drawingml/2006/main">
            <a:off x="7677150" y="2952750"/>
            <a:ext cx="323850" cy="323850"/>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649FCF8-B3DB-400D-9C32-D1DCCEC4F22D}"/>
              </a:ext>
            </a:extLst>
          </p:cNvPr>
          <p:cNvSpPr>
            <a:spLocks xmlns:a="http://schemas.openxmlformats.org/drawingml/2006/main" noGrp="1"/>
          </p:cNvSpPr>
          <p:nvPr/>
        </p:nvSpPr>
        <p:spPr>
          <a:xfrm xmlns:a="http://schemas.openxmlformats.org/drawingml/2006/main">
            <a:off x="7677150" y="29527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FFFFFF"/>
                </a:solidFill>
                <a:latin typeface="Arial"/>
                <a:ea typeface="Arial"/>
                <a:cs typeface="Arial"/>
              </a:defRPr>
            </a:defPPr>
          </a:lstStyle>
          <a:p xmlns:a="http://schemas.openxmlformats.org/drawingml/2006/main">
            <a:pPr algn="ctr">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7" name="">
            <a:extLst xmlns:a="http://schemas.openxmlformats.org/drawingml/2006/main">
              <a:ext uri="{FF2B5EF4-FFF2-40B4-BE49-F238E27FC236}">
                <a16:creationId xmlns:a16="http://schemas.microsoft.com/office/drawing/2014/main" id="{51261340-C648-4CA7-BD06-753329A810BD}"/>
              </a:ext>
            </a:extLst>
          </p:cNvPr>
          <p:cNvSpPr>
            <a:spLocks xmlns:a="http://schemas.openxmlformats.org/drawingml/2006/main" noGrp="1"/>
          </p:cNvSpPr>
          <p:nvPr/>
        </p:nvSpPr>
        <p:spPr>
          <a:xfrm xmlns:a="http://schemas.openxmlformats.org/drawingml/2006/main">
            <a:off x="8143875" y="293370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42D3B"/>
                </a:solidFill>
                <a:latin typeface="Arial"/>
                <a:ea typeface="Arial"/>
                <a:cs typeface="Arial"/>
              </a:defRPr>
            </a:defPPr>
          </a:lstStyle>
          <a:p xmlns:a="http://schemas.openxmlformats.org/drawingml/2006/main">
            <a:pPr algn="l">
              <a:lnSpc>
                <a:spcPct val="100000"/>
              </a:lnSpc>
              <a:buNone/>
              <a:defRPr sz="1425" b="1">
                <a:solidFill>
                  <a:srgbClr val="142D3B"/>
                </a:solidFill>
                <a:latin typeface="Arial"/>
                <a:ea typeface="Arial"/>
                <a:cs typeface="Arial"/>
              </a:defRPr>
            </a:pPr>
            <a:r>
              <a:rPr sz="1425" b="1">
                <a:solidFill>
                  <a:srgbClr val="142D3B"/>
                </a:solidFill>
                <a:latin typeface="Arial"/>
                <a:ea typeface="Arial"/>
                <a:cs typeface="Arial"/>
              </a:rPr>
              <a:t>Build + scan</a:t>
            </a:r>
          </a:p>
        </p:txBody>
      </p:sp>
      <p:sp>
        <p:nvSpPr>
          <p:cNvPr id="18" name="">
            <a:extLst xmlns:a="http://schemas.openxmlformats.org/drawingml/2006/main">
              <a:ext uri="{FF2B5EF4-FFF2-40B4-BE49-F238E27FC236}">
                <a16:creationId xmlns:a16="http://schemas.microsoft.com/office/drawing/2014/main" id="{4901533A-7A35-44C8-9BE4-AFCE75A6711D}"/>
              </a:ext>
            </a:extLst>
          </p:cNvPr>
          <p:cNvSpPr>
            <a:spLocks xmlns:a="http://schemas.openxmlformats.org/drawingml/2006/main" noGrp="1"/>
          </p:cNvSpPr>
          <p:nvPr/>
        </p:nvSpPr>
        <p:spPr>
          <a:xfrm xmlns:a="http://schemas.openxmlformats.org/drawingml/2006/main">
            <a:off x="8143875" y="3209925"/>
            <a:ext cx="3086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627581"/>
                </a:solidFill>
                <a:latin typeface="Arial"/>
                <a:ea typeface="Arial"/>
                <a:cs typeface="Arial"/>
              </a:defRPr>
            </a:defPPr>
          </a:lstStyle>
          <a:p xmlns:a="http://schemas.openxmlformats.org/drawingml/2006/main">
            <a:pPr algn="l">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Build images; Trivy blocks high/critical findings</a:t>
            </a:r>
          </a:p>
        </p:txBody>
      </p:sp>
      <p:sp>
        <p:nvSpPr>
          <p:cNvPr id="19" name="">
            <a:extLst xmlns:a="http://schemas.openxmlformats.org/drawingml/2006/main">
              <a:ext uri="{FF2B5EF4-FFF2-40B4-BE49-F238E27FC236}">
                <a16:creationId xmlns:a16="http://schemas.microsoft.com/office/drawing/2014/main" id="{7DDF10CC-7D65-4372-B2FE-7BBB8EBE054D}"/>
              </a:ext>
            </a:extLst>
          </p:cNvPr>
          <p:cNvSpPr>
            <a:spLocks xmlns:a="http://schemas.openxmlformats.org/drawingml/2006/main" noGrp="1"/>
          </p:cNvSpPr>
          <p:nvPr/>
        </p:nvSpPr>
        <p:spPr>
          <a:xfrm xmlns:a="http://schemas.openxmlformats.org/drawingml/2006/main">
            <a:off x="7677150" y="3733800"/>
            <a:ext cx="323850" cy="323850"/>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DFE0F80-E0D7-4954-AAAC-38264DD2F6C5}"/>
              </a:ext>
            </a:extLst>
          </p:cNvPr>
          <p:cNvSpPr>
            <a:spLocks xmlns:a="http://schemas.openxmlformats.org/drawingml/2006/main" noGrp="1"/>
          </p:cNvSpPr>
          <p:nvPr/>
        </p:nvSpPr>
        <p:spPr>
          <a:xfrm xmlns:a="http://schemas.openxmlformats.org/drawingml/2006/main">
            <a:off x="7677150" y="3733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FFFFFF"/>
                </a:solidFill>
                <a:latin typeface="Arial"/>
                <a:ea typeface="Arial"/>
                <a:cs typeface="Arial"/>
              </a:defRPr>
            </a:defPPr>
          </a:lstStyle>
          <a:p xmlns:a="http://schemas.openxmlformats.org/drawingml/2006/main">
            <a:pPr algn="ctr">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277A6F92-3534-4AFF-976E-A04A0E65209C}"/>
              </a:ext>
            </a:extLst>
          </p:cNvPr>
          <p:cNvSpPr>
            <a:spLocks xmlns:a="http://schemas.openxmlformats.org/drawingml/2006/main" noGrp="1"/>
          </p:cNvSpPr>
          <p:nvPr/>
        </p:nvSpPr>
        <p:spPr>
          <a:xfrm xmlns:a="http://schemas.openxmlformats.org/drawingml/2006/main">
            <a:off x="8143875" y="371475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42D3B"/>
                </a:solidFill>
                <a:latin typeface="Arial"/>
                <a:ea typeface="Arial"/>
                <a:cs typeface="Arial"/>
              </a:defRPr>
            </a:defPPr>
          </a:lstStyle>
          <a:p xmlns:a="http://schemas.openxmlformats.org/drawingml/2006/main">
            <a:pPr algn="l">
              <a:lnSpc>
                <a:spcPct val="100000"/>
              </a:lnSpc>
              <a:buNone/>
              <a:defRPr sz="1425" b="1">
                <a:solidFill>
                  <a:srgbClr val="142D3B"/>
                </a:solidFill>
                <a:latin typeface="Arial"/>
                <a:ea typeface="Arial"/>
                <a:cs typeface="Arial"/>
              </a:defRPr>
            </a:pPr>
            <a:r>
              <a:rPr sz="1425" b="1">
                <a:solidFill>
                  <a:srgbClr val="142D3B"/>
                </a:solidFill>
                <a:latin typeface="Arial"/>
                <a:ea typeface="Arial"/>
                <a:cs typeface="Arial"/>
              </a:rPr>
              <a:t>Publish</a:t>
            </a:r>
          </a:p>
        </p:txBody>
      </p:sp>
      <p:sp>
        <p:nvSpPr>
          <p:cNvPr id="22" name="">
            <a:extLst xmlns:a="http://schemas.openxmlformats.org/drawingml/2006/main">
              <a:ext uri="{FF2B5EF4-FFF2-40B4-BE49-F238E27FC236}">
                <a16:creationId xmlns:a16="http://schemas.microsoft.com/office/drawing/2014/main" id="{6D7909BC-65A7-40C9-976E-1AF6ED266C0B}"/>
              </a:ext>
            </a:extLst>
          </p:cNvPr>
          <p:cNvSpPr>
            <a:spLocks xmlns:a="http://schemas.openxmlformats.org/drawingml/2006/main" noGrp="1"/>
          </p:cNvSpPr>
          <p:nvPr/>
        </p:nvSpPr>
        <p:spPr>
          <a:xfrm xmlns:a="http://schemas.openxmlformats.org/drawingml/2006/main">
            <a:off x="8143875" y="3990975"/>
            <a:ext cx="3086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627581"/>
                </a:solidFill>
                <a:latin typeface="Arial"/>
                <a:ea typeface="Arial"/>
                <a:cs typeface="Arial"/>
              </a:defRPr>
            </a:defPPr>
          </a:lstStyle>
          <a:p xmlns:a="http://schemas.openxmlformats.org/drawingml/2006/main">
            <a:pPr algn="l">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Push successful main images to GHCR with SHA tags</a:t>
            </a:r>
          </a:p>
        </p:txBody>
      </p:sp>
      <p:sp>
        <p:nvSpPr>
          <p:cNvPr id="23" name="">
            <a:extLst xmlns:a="http://schemas.openxmlformats.org/drawingml/2006/main">
              <a:ext uri="{FF2B5EF4-FFF2-40B4-BE49-F238E27FC236}">
                <a16:creationId xmlns:a16="http://schemas.microsoft.com/office/drawing/2014/main" id="{9108EB47-596D-4ABC-997D-06E751B15088}"/>
              </a:ext>
            </a:extLst>
          </p:cNvPr>
          <p:cNvSpPr>
            <a:spLocks xmlns:a="http://schemas.openxmlformats.org/drawingml/2006/main" noGrp="1"/>
          </p:cNvSpPr>
          <p:nvPr/>
        </p:nvSpPr>
        <p:spPr>
          <a:xfrm xmlns:a="http://schemas.openxmlformats.org/drawingml/2006/main">
            <a:off x="7677150" y="4514850"/>
            <a:ext cx="323850" cy="323850"/>
          </a:xfrm>
          <a:prstGeom xmlns:a="http://schemas.openxmlformats.org/drawingml/2006/main" prst="ellipse">
            <a:avLst/>
          </a:prstGeom>
          <a:solidFill xmlns:a="http://schemas.openxmlformats.org/drawingml/2006/main">
            <a:srgbClr val="E9A54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9A42184-DD5F-41E1-B3F4-5DC40870FCBB}"/>
              </a:ext>
            </a:extLst>
          </p:cNvPr>
          <p:cNvSpPr>
            <a:spLocks xmlns:a="http://schemas.openxmlformats.org/drawingml/2006/main" noGrp="1"/>
          </p:cNvSpPr>
          <p:nvPr/>
        </p:nvSpPr>
        <p:spPr>
          <a:xfrm xmlns:a="http://schemas.openxmlformats.org/drawingml/2006/main">
            <a:off x="7677150" y="45148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FFFFFF"/>
                </a:solidFill>
                <a:latin typeface="Arial"/>
                <a:ea typeface="Arial"/>
                <a:cs typeface="Arial"/>
              </a:defRPr>
            </a:defPPr>
          </a:lstStyle>
          <a:p xmlns:a="http://schemas.openxmlformats.org/drawingml/2006/main">
            <a:pPr algn="ctr">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080583B7-9B4E-4A1C-B7B0-28B7599CC32A}"/>
              </a:ext>
            </a:extLst>
          </p:cNvPr>
          <p:cNvSpPr>
            <a:spLocks xmlns:a="http://schemas.openxmlformats.org/drawingml/2006/main" noGrp="1"/>
          </p:cNvSpPr>
          <p:nvPr/>
        </p:nvSpPr>
        <p:spPr>
          <a:xfrm xmlns:a="http://schemas.openxmlformats.org/drawingml/2006/main">
            <a:off x="8143875" y="449580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42D3B"/>
                </a:solidFill>
                <a:latin typeface="Arial"/>
                <a:ea typeface="Arial"/>
                <a:cs typeface="Arial"/>
              </a:defRPr>
            </a:defPPr>
          </a:lstStyle>
          <a:p xmlns:a="http://schemas.openxmlformats.org/drawingml/2006/main">
            <a:pPr algn="l">
              <a:lnSpc>
                <a:spcPct val="100000"/>
              </a:lnSpc>
              <a:buNone/>
              <a:defRPr sz="1425" b="1">
                <a:solidFill>
                  <a:srgbClr val="142D3B"/>
                </a:solidFill>
                <a:latin typeface="Arial"/>
                <a:ea typeface="Arial"/>
                <a:cs typeface="Arial"/>
              </a:defRPr>
            </a:pPr>
            <a:r>
              <a:rPr sz="1425" b="1">
                <a:solidFill>
                  <a:srgbClr val="142D3B"/>
                </a:solidFill>
                <a:latin typeface="Arial"/>
                <a:ea typeface="Arial"/>
                <a:cs typeface="Arial"/>
              </a:rPr>
              <a:t>Deploy</a:t>
            </a:r>
          </a:p>
        </p:txBody>
      </p:sp>
      <p:sp>
        <p:nvSpPr>
          <p:cNvPr id="26" name="">
            <a:extLst xmlns:a="http://schemas.openxmlformats.org/drawingml/2006/main">
              <a:ext uri="{FF2B5EF4-FFF2-40B4-BE49-F238E27FC236}">
                <a16:creationId xmlns:a16="http://schemas.microsoft.com/office/drawing/2014/main" id="{F9CF6B2A-909F-4539-913C-0F618492FD49}"/>
              </a:ext>
            </a:extLst>
          </p:cNvPr>
          <p:cNvSpPr>
            <a:spLocks xmlns:a="http://schemas.openxmlformats.org/drawingml/2006/main" noGrp="1"/>
          </p:cNvSpPr>
          <p:nvPr/>
        </p:nvSpPr>
        <p:spPr>
          <a:xfrm xmlns:a="http://schemas.openxmlformats.org/drawingml/2006/main">
            <a:off x="8143875" y="4772025"/>
            <a:ext cx="3086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627581"/>
                </a:solidFill>
                <a:latin typeface="Arial"/>
                <a:ea typeface="Arial"/>
                <a:cs typeface="Arial"/>
              </a:defRPr>
            </a:defPPr>
          </a:lstStyle>
          <a:p xmlns:a="http://schemas.openxmlformats.org/drawingml/2006/main">
            <a:pPr algn="l">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Argo CD reconciles the matching Helm release</a:t>
            </a:r>
          </a:p>
        </p:txBody>
      </p:sp>
      <p:sp>
        <p:nvSpPr>
          <p:cNvPr id="27" name="">
            <a:extLst xmlns:a="http://schemas.openxmlformats.org/drawingml/2006/main">
              <a:ext uri="{FF2B5EF4-FFF2-40B4-BE49-F238E27FC236}">
                <a16:creationId xmlns:a16="http://schemas.microsoft.com/office/drawing/2014/main" id="{D180F911-49A1-4F53-BBA4-30F64FD7E324}"/>
              </a:ext>
            </a:extLst>
          </p:cNvPr>
          <p:cNvSpPr>
            <a:spLocks xmlns:a="http://schemas.openxmlformats.org/drawingml/2006/main" noGrp="1"/>
          </p:cNvSpPr>
          <p:nvPr/>
        </p:nvSpPr>
        <p:spPr>
          <a:xfrm xmlns:a="http://schemas.openxmlformats.org/drawingml/2006/main">
            <a:off x="7639050" y="5457825"/>
            <a:ext cx="3829050" cy="571500"/>
          </a:xfrm>
          <a:prstGeom xmlns:a="http://schemas.openxmlformats.org/drawingml/2006/main" prst="roundRect">
            <a:avLst>
              <a:gd name="adj" fmla="val 13333"/>
            </a:avLst>
          </a:prstGeom>
          <a:solidFill xmlns:a="http://schemas.openxmlformats.org/drawingml/2006/main">
            <a:srgbClr val="FFF0D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21ABE6B-8EBC-488D-A58F-8ADEA52DB0A1}"/>
              </a:ext>
            </a:extLst>
          </p:cNvPr>
          <p:cNvSpPr>
            <a:spLocks xmlns:a="http://schemas.openxmlformats.org/drawingml/2006/main" noGrp="1"/>
          </p:cNvSpPr>
          <p:nvPr/>
        </p:nvSpPr>
        <p:spPr>
          <a:xfrm xmlns:a="http://schemas.openxmlformats.org/drawingml/2006/main">
            <a:off x="7791450" y="5524500"/>
            <a:ext cx="3524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42D3B"/>
                </a:solidFill>
                <a:latin typeface="Arial"/>
                <a:ea typeface="Arial"/>
                <a:cs typeface="Arial"/>
              </a:defRPr>
            </a:defPPr>
          </a:lstStyle>
          <a:p xmlns:a="http://schemas.openxmlformats.org/drawingml/2006/main">
            <a:pPr algn="l">
              <a:lnSpc>
                <a:spcPct val="100000"/>
              </a:lnSpc>
              <a:buNone/>
              <a:defRPr sz="975" b="1">
                <a:solidFill>
                  <a:srgbClr val="142D3B"/>
                </a:solidFill>
                <a:latin typeface="Arial"/>
                <a:ea typeface="Arial"/>
                <a:cs typeface="Arial"/>
              </a:defRPr>
            </a:pPr>
            <a:r>
              <a:rPr sz="975" b="1">
                <a:solidFill>
                  <a:srgbClr val="142D3B"/>
                </a:solidFill>
                <a:latin typeface="Arial"/>
                <a:ea typeface="Arial"/>
                <a:cs typeface="Arial"/>
              </a:rPr>
              <a:t>Evidence detail: “deploy-aws” was skipped in this run. AWS was deployed and synced through Argo CD.</a:t>
            </a:r>
          </a:p>
        </p:txBody>
      </p:sp>
    </p:spTree>
    <p:extLst>
      <p:ext uri="{BB962C8B-B14F-4D97-AF65-F5344CB8AC3E}">
        <p14:creationId xmlns:p14="http://schemas.microsoft.com/office/powerpoint/2010/main" val="1038064387"/>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DF576FC-3466-4AD7-AC39-B7E0A43A8993}"/>
              </a:ext>
            </a:extLst>
          </p:cNvPr>
          <p:cNvSpPr>
            <a:spLocks xmlns:a="http://schemas.openxmlformats.org/drawingml/2006/main" noGrp="1"/>
          </p:cNvSpPr>
          <p:nvPr/>
        </p:nvSpPr>
        <p:spPr>
          <a:xfrm xmlns:a="http://schemas.openxmlformats.org/drawingml/2006/main">
            <a:off x="609600" y="323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67C80"/>
                </a:solidFill>
                <a:latin typeface="Arial"/>
                <a:ea typeface="Arial"/>
                <a:cs typeface="Arial"/>
              </a:defRPr>
            </a:defPPr>
          </a:lstStyle>
          <a:p xmlns:a="http://schemas.openxmlformats.org/drawingml/2006/main">
            <a:pPr algn="l">
              <a:lnSpc>
                <a:spcPct val="100000"/>
              </a:lnSpc>
              <a:buNone/>
              <a:defRPr sz="975" b="1">
                <a:solidFill>
                  <a:srgbClr val="167C80"/>
                </a:solidFill>
                <a:latin typeface="Arial"/>
                <a:ea typeface="Arial"/>
                <a:cs typeface="Arial"/>
              </a:defRPr>
            </a:pPr>
            <a:r>
              <a:rPr sz="975" b="1">
                <a:solidFill>
                  <a:srgbClr val="167C80"/>
                </a:solidFill>
                <a:latin typeface="Arial"/>
                <a:ea typeface="Arial"/>
                <a:cs typeface="Arial"/>
              </a:rPr>
              <a:t>04  /  KUBERNETES</a:t>
            </a:r>
          </a:p>
        </p:txBody>
      </p:sp>
      <p:sp>
        <p:nvSpPr>
          <p:cNvPr id="2" name="">
            <a:extLst xmlns:a="http://schemas.openxmlformats.org/drawingml/2006/main">
              <a:ext uri="{FF2B5EF4-FFF2-40B4-BE49-F238E27FC236}">
                <a16:creationId xmlns:a16="http://schemas.microsoft.com/office/drawing/2014/main" id="{CEAE4FAB-142B-4097-8760-8008DE8E502D}"/>
              </a:ext>
            </a:extLst>
          </p:cNvPr>
          <p:cNvSpPr>
            <a:spLocks xmlns:a="http://schemas.openxmlformats.org/drawingml/2006/main" noGrp="1"/>
          </p:cNvSpPr>
          <p:nvPr/>
        </p:nvSpPr>
        <p:spPr>
          <a:xfrm xmlns:a="http://schemas.openxmlformats.org/drawingml/2006/main">
            <a:off x="609600" y="581025"/>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42D3B"/>
                </a:solidFill>
                <a:latin typeface="Arial"/>
                <a:ea typeface="Arial"/>
                <a:cs typeface="Arial"/>
              </a:defRPr>
            </a:defPPr>
          </a:lstStyle>
          <a:p xmlns:a="http://schemas.openxmlformats.org/drawingml/2006/main">
            <a:pPr algn="l">
              <a:lnSpc>
                <a:spcPct val="100000"/>
              </a:lnSpc>
              <a:buNone/>
              <a:defRPr sz="2550" b="1">
                <a:solidFill>
                  <a:srgbClr val="142D3B"/>
                </a:solidFill>
                <a:latin typeface="Arial"/>
                <a:ea typeface="Arial"/>
                <a:cs typeface="Arial"/>
              </a:defRPr>
            </a:pPr>
            <a:r>
              <a:rPr sz="2550" b="1">
                <a:solidFill>
                  <a:srgbClr val="142D3B"/>
                </a:solidFill>
                <a:latin typeface="Arial"/>
                <a:ea typeface="Arial"/>
                <a:cs typeface="Arial"/>
              </a:rPr>
              <a:t>A healthy release on AWS EKS</a:t>
            </a:r>
          </a:p>
        </p:txBody>
      </p:sp>
      <p:sp>
        <p:nvSpPr>
          <p:cNvPr id="3" name="">
            <a:extLst xmlns:a="http://schemas.openxmlformats.org/drawingml/2006/main">
              <a:ext uri="{FF2B5EF4-FFF2-40B4-BE49-F238E27FC236}">
                <a16:creationId xmlns:a16="http://schemas.microsoft.com/office/drawing/2014/main" id="{9252BC02-1016-45C4-8EE1-C24156DEB42C}"/>
              </a:ext>
            </a:extLst>
          </p:cNvPr>
          <p:cNvSpPr>
            <a:spLocks xmlns:a="http://schemas.openxmlformats.org/drawingml/2006/main" noGrp="1"/>
          </p:cNvSpPr>
          <p:nvPr/>
        </p:nvSpPr>
        <p:spPr>
          <a:xfrm xmlns:a="http://schemas.openxmlformats.org/drawingml/2006/main">
            <a:off x="628650" y="1114425"/>
            <a:ext cx="1093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627581"/>
                </a:solidFill>
                <a:latin typeface="Arial"/>
                <a:ea typeface="Arial"/>
                <a:cs typeface="Arial"/>
              </a:defRPr>
            </a:defPPr>
          </a:lstStyle>
          <a:p xmlns:a="http://schemas.openxmlformats.org/drawingml/2006/main">
            <a:pPr algn="l">
              <a:lnSpc>
                <a:spcPct val="100000"/>
              </a:lnSpc>
              <a:buNone/>
              <a:defRPr sz="1275" b="0">
                <a:solidFill>
                  <a:srgbClr val="627581"/>
                </a:solidFill>
                <a:latin typeface="Arial"/>
                <a:ea typeface="Arial"/>
                <a:cs typeface="Arial"/>
              </a:defRPr>
            </a:pPr>
            <a:r>
              <a:rPr sz="1275" b="0">
                <a:solidFill>
                  <a:srgbClr val="627581"/>
                </a:solidFill>
                <a:latin typeface="Arial"/>
                <a:ea typeface="Arial"/>
                <a:cs typeface="Arial"/>
              </a:rPr>
              <a:t>Real cluster evidence: workloads, migration, storage and ingress.</a:t>
            </a:r>
          </a:p>
        </p:txBody>
      </p:sp>
      <p:sp>
        <p:nvSpPr>
          <p:cNvPr id="4" name="">
            <a:extLst xmlns:a="http://schemas.openxmlformats.org/drawingml/2006/main">
              <a:ext uri="{FF2B5EF4-FFF2-40B4-BE49-F238E27FC236}">
                <a16:creationId xmlns:a16="http://schemas.microsoft.com/office/drawing/2014/main" id="{5C9942CE-67A7-484F-899E-683B9370FD8F}"/>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D8E0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D03A7F7-A1EB-4F97-B342-5AEDD9575B9F}"/>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27581"/>
                </a:solidFill>
                <a:latin typeface="Arial"/>
                <a:ea typeface="Arial"/>
                <a:cs typeface="Arial"/>
              </a:defRPr>
            </a:defPPr>
          </a:lstStyle>
          <a:p xmlns:a="http://schemas.openxmlformats.org/drawingml/2006/main">
            <a:pPr algn="l">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STOCKPILOT  •  DEVOPS CAPSTONE</a:t>
            </a:r>
          </a:p>
        </p:txBody>
      </p:sp>
      <p:sp>
        <p:nvSpPr>
          <p:cNvPr id="6" name="">
            <a:extLst xmlns:a="http://schemas.openxmlformats.org/drawingml/2006/main">
              <a:ext uri="{FF2B5EF4-FFF2-40B4-BE49-F238E27FC236}">
                <a16:creationId xmlns:a16="http://schemas.microsoft.com/office/drawing/2014/main" id="{8F3EA338-E034-4876-B62A-9702923C2141}"/>
              </a:ext>
            </a:extLst>
          </p:cNvPr>
          <p:cNvSpPr>
            <a:spLocks xmlns:a="http://schemas.openxmlformats.org/drawingml/2006/main" noGrp="1"/>
          </p:cNvSpPr>
          <p:nvPr/>
        </p:nvSpPr>
        <p:spPr>
          <a:xfrm xmlns:a="http://schemas.openxmlformats.org/drawingml/2006/main">
            <a:off x="11096625" y="64865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627581"/>
                </a:solidFill>
                <a:latin typeface="Arial"/>
                <a:ea typeface="Arial"/>
                <a:cs typeface="Arial"/>
              </a:defRPr>
            </a:defPPr>
          </a:lstStyle>
          <a:p xmlns:a="http://schemas.openxmlformats.org/drawingml/2006/main">
            <a:pPr algn="r">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05</a:t>
            </a:r>
          </a:p>
        </p:txBody>
      </p:sp>
      <p:sp>
        <p:nvSpPr>
          <p:cNvPr id="7" name="screenshot-frame">
            <a:extLst xmlns:a="http://schemas.openxmlformats.org/drawingml/2006/main">
              <a:ext uri="{FF2B5EF4-FFF2-40B4-BE49-F238E27FC236}">
                <a16:creationId xmlns:a16="http://schemas.microsoft.com/office/drawing/2014/main" id="{4A3911D8-2FFE-4390-B647-7F182C586451}"/>
              </a:ext>
            </a:extLst>
          </p:cNvPr>
          <p:cNvSpPr>
            <a:spLocks xmlns:a="http://schemas.openxmlformats.org/drawingml/2006/main" noGrp="1"/>
          </p:cNvSpPr>
          <p:nvPr/>
        </p:nvSpPr>
        <p:spPr>
          <a:xfrm xmlns:a="http://schemas.openxmlformats.org/drawingml/2006/main">
            <a:off x="571500" y="1619250"/>
            <a:ext cx="6934200" cy="4191000"/>
          </a:xfrm>
          <a:prstGeom xmlns:a="http://schemas.openxmlformats.org/drawingml/2006/main" prst="roundRect">
            <a:avLst>
              <a:gd name="adj" fmla="val 1818"/>
            </a:avLst>
          </a:prstGeom>
          <a:solidFill xmlns:a="http://schemas.openxmlformats.org/drawingml/2006/main">
            <a:srgbClr val="FFFFFF"/>
          </a:solidFill>
          <a:ln xmlns:a="http://schemas.openxmlformats.org/drawingml/2006/main" w="9525">
            <a:solidFill>
              <a:srgbClr val="D8E0DE"/>
            </a:solidFill>
            <a:prstDash val="solid"/>
          </a:ln>
        </p:spPr>
      </p:sp>
      <p:pic>
        <p:nvPicPr>
          <p:cNvPr id="8" name="">
            <a:extLst xmlns:a="http://schemas.openxmlformats.org/drawingml/2006/main">
              <a:ext uri="{FF2B5EF4-FFF2-40B4-BE49-F238E27FC236}">
                <a16:creationId xmlns:a16="http://schemas.microsoft.com/office/drawing/2014/main" id="{0CECFEA3-649E-4529-A92B-93794BEA40E9}"/>
              </a:ext>
            </a:extLst>
          </p:cNvPr>
          <p:cNvPicPr>
            <a:picLocks xmlns:a="http://schemas.openxmlformats.org/drawingml/2006/main" noChangeAspect="1"/>
          </p:cNvPicPr>
          <p:nvPr/>
        </p:nvPicPr>
        <p:blipFill>
          <a:blip xmlns:r="http://schemas.openxmlformats.org/officeDocument/2006/relationships" xmlns:a="http://schemas.openxmlformats.org/drawingml/2006/main" r:embed="Rd4383ea3e41f4de1"/>
          <a:stretch xmlns:a="http://schemas.openxmlformats.org/drawingml/2006/main"/>
        </p:blipFill>
        <p:spPr>
          <a:xfrm xmlns:a="http://schemas.openxmlformats.org/drawingml/2006/main">
            <a:off x="790074" y="1657350"/>
            <a:ext cx="6497053" cy="4114800"/>
          </a:xfrm>
          <a:prstGeom xmlns:a="http://schemas.openxmlformats.org/drawingml/2006/main" prst="roundRect">
            <a:avLst>
              <a:gd name="adj" fmla="val 2315"/>
            </a:avLst>
          </a:prstGeom>
        </p:spPr>
      </p:pic>
      <p:sp>
        <p:nvSpPr>
          <p:cNvPr id="9" name="">
            <a:extLst xmlns:a="http://schemas.openxmlformats.org/drawingml/2006/main">
              <a:ext uri="{FF2B5EF4-FFF2-40B4-BE49-F238E27FC236}">
                <a16:creationId xmlns:a16="http://schemas.microsoft.com/office/drawing/2014/main" id="{5AF1CC1F-C8C3-403E-9B9E-CE90206ACE7C}"/>
              </a:ext>
            </a:extLst>
          </p:cNvPr>
          <p:cNvSpPr>
            <a:spLocks xmlns:a="http://schemas.openxmlformats.org/drawingml/2006/main" noGrp="1"/>
          </p:cNvSpPr>
          <p:nvPr/>
        </p:nvSpPr>
        <p:spPr>
          <a:xfrm xmlns:a="http://schemas.openxmlformats.org/drawingml/2006/main">
            <a:off x="7848600" y="1724025"/>
            <a:ext cx="1657350" cy="247650"/>
          </a:xfrm>
          <a:prstGeom xmlns:a="http://schemas.openxmlformats.org/drawingml/2006/main" prst="roundRect">
            <a:avLst>
              <a:gd name="adj" fmla="val 30769"/>
            </a:avLst>
          </a:prstGeom>
          <a:solidFill xmlns:a="http://schemas.openxmlformats.org/drawingml/2006/main">
            <a:srgbClr val="167C8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132FF8C-83A6-4CF3-9E93-105F57070996}"/>
              </a:ext>
            </a:extLst>
          </p:cNvPr>
          <p:cNvSpPr>
            <a:spLocks xmlns:a="http://schemas.openxmlformats.org/drawingml/2006/main" noGrp="1"/>
          </p:cNvSpPr>
          <p:nvPr/>
        </p:nvSpPr>
        <p:spPr>
          <a:xfrm xmlns:a="http://schemas.openxmlformats.org/drawingml/2006/main">
            <a:off x="7943850" y="1733550"/>
            <a:ext cx="1466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FFFFFF"/>
                </a:solidFill>
                <a:latin typeface="Arial"/>
                <a:ea typeface="Arial"/>
                <a:cs typeface="Arial"/>
              </a:defRPr>
            </a:def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DEPLOYMENT CHECK</a:t>
            </a:r>
          </a:p>
        </p:txBody>
      </p:sp>
      <p:sp>
        <p:nvSpPr>
          <p:cNvPr id="11" name="">
            <a:extLst xmlns:a="http://schemas.openxmlformats.org/drawingml/2006/main">
              <a:ext uri="{FF2B5EF4-FFF2-40B4-BE49-F238E27FC236}">
                <a16:creationId xmlns:a16="http://schemas.microsoft.com/office/drawing/2014/main" id="{5908E97A-1115-43BA-8A14-0E2509A1A83E}"/>
              </a:ext>
            </a:extLst>
          </p:cNvPr>
          <p:cNvSpPr>
            <a:spLocks xmlns:a="http://schemas.openxmlformats.org/drawingml/2006/main" noGrp="1"/>
          </p:cNvSpPr>
          <p:nvPr/>
        </p:nvSpPr>
        <p:spPr>
          <a:xfrm xmlns:a="http://schemas.openxmlformats.org/drawingml/2006/main">
            <a:off x="7848600" y="2171700"/>
            <a:ext cx="1257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67C80"/>
                </a:solidFill>
                <a:latin typeface="Arial"/>
                <a:ea typeface="Arial"/>
                <a:cs typeface="Arial"/>
              </a:defRPr>
            </a:defPPr>
          </a:lstStyle>
          <a:p xmlns:a="http://schemas.openxmlformats.org/drawingml/2006/main">
            <a:pPr algn="l">
              <a:lnSpc>
                <a:spcPct val="100000"/>
              </a:lnSpc>
              <a:buNone/>
              <a:defRPr sz="1425" b="1">
                <a:solidFill>
                  <a:srgbClr val="167C80"/>
                </a:solidFill>
                <a:latin typeface="Arial"/>
                <a:ea typeface="Arial"/>
                <a:cs typeface="Arial"/>
              </a:defRPr>
            </a:pPr>
            <a:r>
              <a:rPr sz="1425" b="1">
                <a:solidFill>
                  <a:srgbClr val="167C80"/>
                </a:solidFill>
                <a:latin typeface="Arial"/>
                <a:ea typeface="Arial"/>
                <a:cs typeface="Arial"/>
              </a:rPr>
              <a:t>2 / 2</a:t>
            </a:r>
          </a:p>
        </p:txBody>
      </p:sp>
      <p:sp>
        <p:nvSpPr>
          <p:cNvPr id="12" name="">
            <a:extLst xmlns:a="http://schemas.openxmlformats.org/drawingml/2006/main">
              <a:ext uri="{FF2B5EF4-FFF2-40B4-BE49-F238E27FC236}">
                <a16:creationId xmlns:a16="http://schemas.microsoft.com/office/drawing/2014/main" id="{587B0363-9203-45F5-9577-CC8147C8F66F}"/>
              </a:ext>
            </a:extLst>
          </p:cNvPr>
          <p:cNvSpPr>
            <a:spLocks xmlns:a="http://schemas.openxmlformats.org/drawingml/2006/main" noGrp="1"/>
          </p:cNvSpPr>
          <p:nvPr/>
        </p:nvSpPr>
        <p:spPr>
          <a:xfrm xmlns:a="http://schemas.openxmlformats.org/drawingml/2006/main">
            <a:off x="9124950" y="217170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142D3B"/>
                </a:solidFill>
                <a:latin typeface="Arial"/>
                <a:ea typeface="Arial"/>
                <a:cs typeface="Arial"/>
              </a:defRPr>
            </a:defPPr>
          </a:lstStyle>
          <a:p xmlns:a="http://schemas.openxmlformats.org/drawingml/2006/main">
            <a:pPr algn="l">
              <a:lnSpc>
                <a:spcPct val="100000"/>
              </a:lnSpc>
              <a:buNone/>
              <a:defRPr sz="1050" b="0">
                <a:solidFill>
                  <a:srgbClr val="142D3B"/>
                </a:solidFill>
                <a:latin typeface="Arial"/>
                <a:ea typeface="Arial"/>
                <a:cs typeface="Arial"/>
              </a:defRPr>
            </a:pPr>
            <a:r>
              <a:rPr sz="1050" b="0">
                <a:solidFill>
                  <a:srgbClr val="142D3B"/>
                </a:solidFill>
                <a:latin typeface="Arial"/>
                <a:ea typeface="Arial"/>
                <a:cs typeface="Arial"/>
              </a:rPr>
              <a:t>EKS worker nodes Ready</a:t>
            </a:r>
          </a:p>
        </p:txBody>
      </p:sp>
      <p:sp>
        <p:nvSpPr>
          <p:cNvPr id="13" name="">
            <a:extLst xmlns:a="http://schemas.openxmlformats.org/drawingml/2006/main">
              <a:ext uri="{FF2B5EF4-FFF2-40B4-BE49-F238E27FC236}">
                <a16:creationId xmlns:a16="http://schemas.microsoft.com/office/drawing/2014/main" id="{BBB74C1B-B19D-4333-B7A2-EDE0568BCA65}"/>
              </a:ext>
            </a:extLst>
          </p:cNvPr>
          <p:cNvSpPr>
            <a:spLocks xmlns:a="http://schemas.openxmlformats.org/drawingml/2006/main" noGrp="1"/>
          </p:cNvSpPr>
          <p:nvPr/>
        </p:nvSpPr>
        <p:spPr>
          <a:xfrm xmlns:a="http://schemas.openxmlformats.org/drawingml/2006/main">
            <a:off x="7848600" y="2819400"/>
            <a:ext cx="1257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67C80"/>
                </a:solidFill>
                <a:latin typeface="Arial"/>
                <a:ea typeface="Arial"/>
                <a:cs typeface="Arial"/>
              </a:defRPr>
            </a:defPPr>
          </a:lstStyle>
          <a:p xmlns:a="http://schemas.openxmlformats.org/drawingml/2006/main">
            <a:pPr algn="l">
              <a:lnSpc>
                <a:spcPct val="100000"/>
              </a:lnSpc>
              <a:buNone/>
              <a:defRPr sz="1425" b="1">
                <a:solidFill>
                  <a:srgbClr val="167C80"/>
                </a:solidFill>
                <a:latin typeface="Arial"/>
                <a:ea typeface="Arial"/>
                <a:cs typeface="Arial"/>
              </a:defRPr>
            </a:pPr>
            <a:r>
              <a:rPr sz="1425" b="1">
                <a:solidFill>
                  <a:srgbClr val="167C80"/>
                </a:solidFill>
                <a:latin typeface="Arial"/>
                <a:ea typeface="Arial"/>
                <a:cs typeface="Arial"/>
              </a:rPr>
              <a:t>2 + 2</a:t>
            </a:r>
          </a:p>
        </p:txBody>
      </p:sp>
      <p:sp>
        <p:nvSpPr>
          <p:cNvPr id="14" name="">
            <a:extLst xmlns:a="http://schemas.openxmlformats.org/drawingml/2006/main">
              <a:ext uri="{FF2B5EF4-FFF2-40B4-BE49-F238E27FC236}">
                <a16:creationId xmlns:a16="http://schemas.microsoft.com/office/drawing/2014/main" id="{7CF0C7BF-2ADB-4DD3-8D62-50E9F3B6459E}"/>
              </a:ext>
            </a:extLst>
          </p:cNvPr>
          <p:cNvSpPr>
            <a:spLocks xmlns:a="http://schemas.openxmlformats.org/drawingml/2006/main" noGrp="1"/>
          </p:cNvSpPr>
          <p:nvPr/>
        </p:nvSpPr>
        <p:spPr>
          <a:xfrm xmlns:a="http://schemas.openxmlformats.org/drawingml/2006/main">
            <a:off x="9124950" y="281940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142D3B"/>
                </a:solidFill>
                <a:latin typeface="Arial"/>
                <a:ea typeface="Arial"/>
                <a:cs typeface="Arial"/>
              </a:defRPr>
            </a:defPPr>
          </a:lstStyle>
          <a:p xmlns:a="http://schemas.openxmlformats.org/drawingml/2006/main">
            <a:pPr algn="l">
              <a:lnSpc>
                <a:spcPct val="100000"/>
              </a:lnSpc>
              <a:buNone/>
              <a:defRPr sz="1050" b="0">
                <a:solidFill>
                  <a:srgbClr val="142D3B"/>
                </a:solidFill>
                <a:latin typeface="Arial"/>
                <a:ea typeface="Arial"/>
                <a:cs typeface="Arial"/>
              </a:defRPr>
            </a:pPr>
            <a:r>
              <a:rPr sz="1050" b="0">
                <a:solidFill>
                  <a:srgbClr val="142D3B"/>
                </a:solidFill>
                <a:latin typeface="Arial"/>
                <a:ea typeface="Arial"/>
                <a:cs typeface="Arial"/>
              </a:rPr>
              <a:t>Backend + frontend pods Running</a:t>
            </a:r>
          </a:p>
        </p:txBody>
      </p:sp>
      <p:sp>
        <p:nvSpPr>
          <p:cNvPr id="15" name="">
            <a:extLst xmlns:a="http://schemas.openxmlformats.org/drawingml/2006/main">
              <a:ext uri="{FF2B5EF4-FFF2-40B4-BE49-F238E27FC236}">
                <a16:creationId xmlns:a16="http://schemas.microsoft.com/office/drawing/2014/main" id="{26835489-FD63-47B2-BDBD-08345A16324D}"/>
              </a:ext>
            </a:extLst>
          </p:cNvPr>
          <p:cNvSpPr>
            <a:spLocks xmlns:a="http://schemas.openxmlformats.org/drawingml/2006/main" noGrp="1"/>
          </p:cNvSpPr>
          <p:nvPr/>
        </p:nvSpPr>
        <p:spPr>
          <a:xfrm xmlns:a="http://schemas.openxmlformats.org/drawingml/2006/main">
            <a:off x="7848600" y="3467100"/>
            <a:ext cx="1257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67C80"/>
                </a:solidFill>
                <a:latin typeface="Arial"/>
                <a:ea typeface="Arial"/>
                <a:cs typeface="Arial"/>
              </a:defRPr>
            </a:defPPr>
          </a:lstStyle>
          <a:p xmlns:a="http://schemas.openxmlformats.org/drawingml/2006/main">
            <a:pPr algn="l">
              <a:lnSpc>
                <a:spcPct val="100000"/>
              </a:lnSpc>
              <a:buNone/>
              <a:defRPr sz="1425" b="1">
                <a:solidFill>
                  <a:srgbClr val="167C80"/>
                </a:solidFill>
                <a:latin typeface="Arial"/>
                <a:ea typeface="Arial"/>
                <a:cs typeface="Arial"/>
              </a:defRPr>
            </a:pPr>
            <a:r>
              <a:rPr sz="1425" b="1">
                <a:solidFill>
                  <a:srgbClr val="167C80"/>
                </a:solidFill>
                <a:latin typeface="Arial"/>
                <a:ea typeface="Arial"/>
                <a:cs typeface="Arial"/>
              </a:rPr>
              <a:t>Bound</a:t>
            </a:r>
          </a:p>
        </p:txBody>
      </p:sp>
      <p:sp>
        <p:nvSpPr>
          <p:cNvPr id="16" name="">
            <a:extLst xmlns:a="http://schemas.openxmlformats.org/drawingml/2006/main">
              <a:ext uri="{FF2B5EF4-FFF2-40B4-BE49-F238E27FC236}">
                <a16:creationId xmlns:a16="http://schemas.microsoft.com/office/drawing/2014/main" id="{860E3088-E1C4-4162-93C7-3261DB407BA4}"/>
              </a:ext>
            </a:extLst>
          </p:cNvPr>
          <p:cNvSpPr>
            <a:spLocks xmlns:a="http://schemas.openxmlformats.org/drawingml/2006/main" noGrp="1"/>
          </p:cNvSpPr>
          <p:nvPr/>
        </p:nvSpPr>
        <p:spPr>
          <a:xfrm xmlns:a="http://schemas.openxmlformats.org/drawingml/2006/main">
            <a:off x="9124950" y="346710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142D3B"/>
                </a:solidFill>
                <a:latin typeface="Arial"/>
                <a:ea typeface="Arial"/>
                <a:cs typeface="Arial"/>
              </a:defRPr>
            </a:defPPr>
          </a:lstStyle>
          <a:p xmlns:a="http://schemas.openxmlformats.org/drawingml/2006/main">
            <a:pPr algn="l">
              <a:lnSpc>
                <a:spcPct val="100000"/>
              </a:lnSpc>
              <a:buNone/>
              <a:defRPr sz="1050" b="0">
                <a:solidFill>
                  <a:srgbClr val="142D3B"/>
                </a:solidFill>
                <a:latin typeface="Arial"/>
                <a:ea typeface="Arial"/>
                <a:cs typeface="Arial"/>
              </a:defRPr>
            </a:pPr>
            <a:r>
              <a:rPr sz="1050" b="0">
                <a:solidFill>
                  <a:srgbClr val="142D3B"/>
                </a:solidFill>
                <a:latin typeface="Arial"/>
                <a:ea typeface="Arial"/>
                <a:cs typeface="Arial"/>
              </a:rPr>
              <a:t>PostgreSQL gp3 persistent volume</a:t>
            </a:r>
          </a:p>
        </p:txBody>
      </p:sp>
      <p:sp>
        <p:nvSpPr>
          <p:cNvPr id="17" name="">
            <a:extLst xmlns:a="http://schemas.openxmlformats.org/drawingml/2006/main">
              <a:ext uri="{FF2B5EF4-FFF2-40B4-BE49-F238E27FC236}">
                <a16:creationId xmlns:a16="http://schemas.microsoft.com/office/drawing/2014/main" id="{066A38C6-898E-4053-B3F1-400BA520BFF4}"/>
              </a:ext>
            </a:extLst>
          </p:cNvPr>
          <p:cNvSpPr>
            <a:spLocks xmlns:a="http://schemas.openxmlformats.org/drawingml/2006/main" noGrp="1"/>
          </p:cNvSpPr>
          <p:nvPr/>
        </p:nvSpPr>
        <p:spPr>
          <a:xfrm xmlns:a="http://schemas.openxmlformats.org/drawingml/2006/main">
            <a:off x="7848600" y="4114800"/>
            <a:ext cx="1257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67C80"/>
                </a:solidFill>
                <a:latin typeface="Arial"/>
                <a:ea typeface="Arial"/>
                <a:cs typeface="Arial"/>
              </a:defRPr>
            </a:defPPr>
          </a:lstStyle>
          <a:p xmlns:a="http://schemas.openxmlformats.org/drawingml/2006/main">
            <a:pPr algn="l">
              <a:lnSpc>
                <a:spcPct val="100000"/>
              </a:lnSpc>
              <a:buNone/>
              <a:defRPr sz="1425" b="1">
                <a:solidFill>
                  <a:srgbClr val="167C80"/>
                </a:solidFill>
                <a:latin typeface="Arial"/>
                <a:ea typeface="Arial"/>
                <a:cs typeface="Arial"/>
              </a:defRPr>
            </a:pPr>
            <a:r>
              <a:rPr sz="1425" b="1">
                <a:solidFill>
                  <a:srgbClr val="167C80"/>
                </a:solidFill>
                <a:latin typeface="Arial"/>
                <a:ea typeface="Arial"/>
                <a:cs typeface="Arial"/>
              </a:rPr>
              <a:t>Complete</a:t>
            </a:r>
          </a:p>
        </p:txBody>
      </p:sp>
      <p:sp>
        <p:nvSpPr>
          <p:cNvPr id="18" name="">
            <a:extLst xmlns:a="http://schemas.openxmlformats.org/drawingml/2006/main">
              <a:ext uri="{FF2B5EF4-FFF2-40B4-BE49-F238E27FC236}">
                <a16:creationId xmlns:a16="http://schemas.microsoft.com/office/drawing/2014/main" id="{EF776211-82BB-4082-BB5E-BD90B8E77938}"/>
              </a:ext>
            </a:extLst>
          </p:cNvPr>
          <p:cNvSpPr>
            <a:spLocks xmlns:a="http://schemas.openxmlformats.org/drawingml/2006/main" noGrp="1"/>
          </p:cNvSpPr>
          <p:nvPr/>
        </p:nvSpPr>
        <p:spPr>
          <a:xfrm xmlns:a="http://schemas.openxmlformats.org/drawingml/2006/main">
            <a:off x="9124950" y="411480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142D3B"/>
                </a:solidFill>
                <a:latin typeface="Arial"/>
                <a:ea typeface="Arial"/>
                <a:cs typeface="Arial"/>
              </a:defRPr>
            </a:defPPr>
          </a:lstStyle>
          <a:p xmlns:a="http://schemas.openxmlformats.org/drawingml/2006/main">
            <a:pPr algn="l">
              <a:lnSpc>
                <a:spcPct val="100000"/>
              </a:lnSpc>
              <a:buNone/>
              <a:defRPr sz="1050" b="0">
                <a:solidFill>
                  <a:srgbClr val="142D3B"/>
                </a:solidFill>
                <a:latin typeface="Arial"/>
                <a:ea typeface="Arial"/>
                <a:cs typeface="Arial"/>
              </a:defRPr>
            </a:pPr>
            <a:r>
              <a:rPr sz="1050" b="0">
                <a:solidFill>
                  <a:srgbClr val="142D3B"/>
                </a:solidFill>
                <a:latin typeface="Arial"/>
                <a:ea typeface="Arial"/>
                <a:cs typeface="Arial"/>
              </a:rPr>
              <a:t>Alembic migration Job</a:t>
            </a:r>
          </a:p>
        </p:txBody>
      </p:sp>
      <p:sp>
        <p:nvSpPr>
          <p:cNvPr id="19" name="">
            <a:extLst xmlns:a="http://schemas.openxmlformats.org/drawingml/2006/main">
              <a:ext uri="{FF2B5EF4-FFF2-40B4-BE49-F238E27FC236}">
                <a16:creationId xmlns:a16="http://schemas.microsoft.com/office/drawing/2014/main" id="{DD2B19AD-740E-4501-AC23-AB7EB3E573EC}"/>
              </a:ext>
            </a:extLst>
          </p:cNvPr>
          <p:cNvSpPr>
            <a:spLocks xmlns:a="http://schemas.openxmlformats.org/drawingml/2006/main" noGrp="1"/>
          </p:cNvSpPr>
          <p:nvPr/>
        </p:nvSpPr>
        <p:spPr>
          <a:xfrm xmlns:a="http://schemas.openxmlformats.org/drawingml/2006/main">
            <a:off x="7848600" y="4762500"/>
            <a:ext cx="1257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E9A544"/>
                </a:solidFill>
                <a:latin typeface="Arial"/>
                <a:ea typeface="Arial"/>
                <a:cs typeface="Arial"/>
              </a:defRPr>
            </a:defPPr>
          </a:lstStyle>
          <a:p xmlns:a="http://schemas.openxmlformats.org/drawingml/2006/main">
            <a:pPr algn="l">
              <a:lnSpc>
                <a:spcPct val="100000"/>
              </a:lnSpc>
              <a:buNone/>
              <a:defRPr sz="1425" b="1">
                <a:solidFill>
                  <a:srgbClr val="E9A544"/>
                </a:solidFill>
                <a:latin typeface="Arial"/>
                <a:ea typeface="Arial"/>
                <a:cs typeface="Arial"/>
              </a:defRPr>
            </a:pPr>
            <a:r>
              <a:rPr sz="1425" b="1">
                <a:solidFill>
                  <a:srgbClr val="E9A544"/>
                </a:solidFill>
                <a:latin typeface="Arial"/>
                <a:ea typeface="Arial"/>
                <a:cs typeface="Arial"/>
              </a:rPr>
              <a:t>2 of 2–6</a:t>
            </a:r>
          </a:p>
        </p:txBody>
      </p:sp>
      <p:sp>
        <p:nvSpPr>
          <p:cNvPr id="20" name="">
            <a:extLst xmlns:a="http://schemas.openxmlformats.org/drawingml/2006/main">
              <a:ext uri="{FF2B5EF4-FFF2-40B4-BE49-F238E27FC236}">
                <a16:creationId xmlns:a16="http://schemas.microsoft.com/office/drawing/2014/main" id="{C4CF0C87-70E1-4A12-B9A9-2E480E36D9AE}"/>
              </a:ext>
            </a:extLst>
          </p:cNvPr>
          <p:cNvSpPr>
            <a:spLocks xmlns:a="http://schemas.openxmlformats.org/drawingml/2006/main" noGrp="1"/>
          </p:cNvSpPr>
          <p:nvPr/>
        </p:nvSpPr>
        <p:spPr>
          <a:xfrm xmlns:a="http://schemas.openxmlformats.org/drawingml/2006/main">
            <a:off x="9124950" y="476250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142D3B"/>
                </a:solidFill>
                <a:latin typeface="Arial"/>
                <a:ea typeface="Arial"/>
                <a:cs typeface="Arial"/>
              </a:defRPr>
            </a:defPPr>
          </a:lstStyle>
          <a:p xmlns:a="http://schemas.openxmlformats.org/drawingml/2006/main">
            <a:pPr algn="l">
              <a:lnSpc>
                <a:spcPct val="100000"/>
              </a:lnSpc>
              <a:buNone/>
              <a:defRPr sz="1050" b="0">
                <a:solidFill>
                  <a:srgbClr val="142D3B"/>
                </a:solidFill>
                <a:latin typeface="Arial"/>
                <a:ea typeface="Arial"/>
                <a:cs typeface="Arial"/>
              </a:defRPr>
            </a:pPr>
            <a:r>
              <a:rPr sz="1050" b="0">
                <a:solidFill>
                  <a:srgbClr val="142D3B"/>
                </a:solidFill>
                <a:latin typeface="Arial"/>
                <a:ea typeface="Arial"/>
                <a:cs typeface="Arial"/>
              </a:rPr>
              <a:t>Backend HPA at minimum; ~3% CPU vs 60% target</a:t>
            </a:r>
          </a:p>
        </p:txBody>
      </p:sp>
      <p:sp>
        <p:nvSpPr>
          <p:cNvPr id="21" name="">
            <a:extLst xmlns:a="http://schemas.openxmlformats.org/drawingml/2006/main">
              <a:ext uri="{FF2B5EF4-FFF2-40B4-BE49-F238E27FC236}">
                <a16:creationId xmlns:a16="http://schemas.microsoft.com/office/drawing/2014/main" id="{CE49B714-6B82-4307-85D2-EA71FEE846BC}"/>
              </a:ext>
            </a:extLst>
          </p:cNvPr>
          <p:cNvSpPr>
            <a:spLocks xmlns:a="http://schemas.openxmlformats.org/drawingml/2006/main" noGrp="1"/>
          </p:cNvSpPr>
          <p:nvPr/>
        </p:nvSpPr>
        <p:spPr>
          <a:xfrm xmlns:a="http://schemas.openxmlformats.org/drawingml/2006/main">
            <a:off x="7848600" y="5657850"/>
            <a:ext cx="3543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627581"/>
                </a:solidFill>
                <a:latin typeface="Arial"/>
                <a:ea typeface="Arial"/>
                <a:cs typeface="Arial"/>
              </a:defRPr>
            </a:defPPr>
          </a:lstStyle>
          <a:p xmlns:a="http://schemas.openxmlformats.org/drawingml/2006/main">
            <a:pPr algn="l">
              <a:lnSpc>
                <a:spcPct val="100000"/>
              </a:lnSpc>
              <a:buNone/>
              <a:defRPr sz="900" b="0">
                <a:solidFill>
                  <a:srgbClr val="627581"/>
                </a:solidFill>
                <a:latin typeface="Arial"/>
                <a:ea typeface="Arial"/>
                <a:cs typeface="Arial"/>
              </a:defRPr>
            </a:pPr>
            <a:r>
              <a:rPr sz="900" b="0">
                <a:solidFill>
                  <a:srgbClr val="627581"/>
                </a:solidFill>
                <a:latin typeface="Arial"/>
                <a:ea typeface="Arial"/>
                <a:cs typeface="Arial"/>
              </a:rPr>
              <a:t>Cluster: stockpilot-eks  •  Region: ap-south-1  •  Ingress: Traefik NLB</a:t>
            </a:r>
          </a:p>
        </p:txBody>
      </p:sp>
    </p:spTree>
    <p:extLst>
      <p:ext uri="{BB962C8B-B14F-4D97-AF65-F5344CB8AC3E}">
        <p14:creationId xmlns:p14="http://schemas.microsoft.com/office/powerpoint/2010/main" val="1535604150"/>
      </p:ext>
    </p:extLst>
  </p:cSld>
</p:sld>
</file>

<file path=ppt/slides/slide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A421B08-4ED0-4FD9-897A-12F03E51AFD5}"/>
              </a:ext>
            </a:extLst>
          </p:cNvPr>
          <p:cNvSpPr>
            <a:spLocks xmlns:a="http://schemas.openxmlformats.org/drawingml/2006/main" noGrp="1"/>
          </p:cNvSpPr>
          <p:nvPr/>
        </p:nvSpPr>
        <p:spPr>
          <a:xfrm xmlns:a="http://schemas.openxmlformats.org/drawingml/2006/main">
            <a:off x="609600" y="323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67C80"/>
                </a:solidFill>
                <a:latin typeface="Arial"/>
                <a:ea typeface="Arial"/>
                <a:cs typeface="Arial"/>
              </a:defRPr>
            </a:defPPr>
          </a:lstStyle>
          <a:p xmlns:a="http://schemas.openxmlformats.org/drawingml/2006/main">
            <a:pPr algn="l">
              <a:lnSpc>
                <a:spcPct val="100000"/>
              </a:lnSpc>
              <a:buNone/>
              <a:defRPr sz="975" b="1">
                <a:solidFill>
                  <a:srgbClr val="167C80"/>
                </a:solidFill>
                <a:latin typeface="Arial"/>
                <a:ea typeface="Arial"/>
                <a:cs typeface="Arial"/>
              </a:defRPr>
            </a:pPr>
            <a:r>
              <a:rPr sz="975" b="1">
                <a:solidFill>
                  <a:srgbClr val="167C80"/>
                </a:solidFill>
                <a:latin typeface="Arial"/>
                <a:ea typeface="Arial"/>
                <a:cs typeface="Arial"/>
              </a:rPr>
              <a:t>05  /  VERIFIED APPLICATION</a:t>
            </a:r>
          </a:p>
        </p:txBody>
      </p:sp>
      <p:sp>
        <p:nvSpPr>
          <p:cNvPr id="2" name="">
            <a:extLst xmlns:a="http://schemas.openxmlformats.org/drawingml/2006/main">
              <a:ext uri="{FF2B5EF4-FFF2-40B4-BE49-F238E27FC236}">
                <a16:creationId xmlns:a16="http://schemas.microsoft.com/office/drawing/2014/main" id="{062218A2-7193-4B0A-9AB4-E97FB026AB32}"/>
              </a:ext>
            </a:extLst>
          </p:cNvPr>
          <p:cNvSpPr>
            <a:spLocks xmlns:a="http://schemas.openxmlformats.org/drawingml/2006/main" noGrp="1"/>
          </p:cNvSpPr>
          <p:nvPr/>
        </p:nvSpPr>
        <p:spPr>
          <a:xfrm xmlns:a="http://schemas.openxmlformats.org/drawingml/2006/main">
            <a:off x="609600" y="581025"/>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42D3B"/>
                </a:solidFill>
                <a:latin typeface="Arial"/>
                <a:ea typeface="Arial"/>
                <a:cs typeface="Arial"/>
              </a:defRPr>
            </a:defPPr>
          </a:lstStyle>
          <a:p xmlns:a="http://schemas.openxmlformats.org/drawingml/2006/main">
            <a:pPr algn="l">
              <a:lnSpc>
                <a:spcPct val="100000"/>
              </a:lnSpc>
              <a:buNone/>
              <a:defRPr sz="2550" b="1">
                <a:solidFill>
                  <a:srgbClr val="142D3B"/>
                </a:solidFill>
                <a:latin typeface="Arial"/>
                <a:ea typeface="Arial"/>
                <a:cs typeface="Arial"/>
              </a:defRPr>
            </a:pPr>
            <a:r>
              <a:rPr sz="2550" b="1">
                <a:solidFill>
                  <a:srgbClr val="142D3B"/>
                </a:solidFill>
                <a:latin typeface="Arial"/>
                <a:ea typeface="Arial"/>
                <a:cs typeface="Arial"/>
              </a:rPr>
              <a:t>The running app identifies its release</a:t>
            </a:r>
          </a:p>
        </p:txBody>
      </p:sp>
      <p:sp>
        <p:nvSpPr>
          <p:cNvPr id="3" name="">
            <a:extLst xmlns:a="http://schemas.openxmlformats.org/drawingml/2006/main">
              <a:ext uri="{FF2B5EF4-FFF2-40B4-BE49-F238E27FC236}">
                <a16:creationId xmlns:a16="http://schemas.microsoft.com/office/drawing/2014/main" id="{1A95AD05-C001-4C19-B6E7-EC217F68DF4E}"/>
              </a:ext>
            </a:extLst>
          </p:cNvPr>
          <p:cNvSpPr>
            <a:spLocks xmlns:a="http://schemas.openxmlformats.org/drawingml/2006/main" noGrp="1"/>
          </p:cNvSpPr>
          <p:nvPr/>
        </p:nvSpPr>
        <p:spPr>
          <a:xfrm xmlns:a="http://schemas.openxmlformats.org/drawingml/2006/main">
            <a:off x="628650" y="1114425"/>
            <a:ext cx="1093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627581"/>
                </a:solidFill>
                <a:latin typeface="Arial"/>
                <a:ea typeface="Arial"/>
                <a:cs typeface="Arial"/>
              </a:defRPr>
            </a:defPPr>
          </a:lstStyle>
          <a:p xmlns:a="http://schemas.openxmlformats.org/drawingml/2006/main">
            <a:pPr algn="l">
              <a:lnSpc>
                <a:spcPct val="100000"/>
              </a:lnSpc>
              <a:buNone/>
              <a:defRPr sz="1275" b="0">
                <a:solidFill>
                  <a:srgbClr val="627581"/>
                </a:solidFill>
                <a:latin typeface="Arial"/>
                <a:ea typeface="Arial"/>
                <a:cs typeface="Arial"/>
              </a:defRPr>
            </a:pPr>
            <a:r>
              <a:rPr sz="1275" b="0">
                <a:solidFill>
                  <a:srgbClr val="627581"/>
                </a:solidFill>
                <a:latin typeface="Arial"/>
                <a:ea typeface="Arial"/>
                <a:cs typeface="Arial"/>
              </a:rPr>
              <a:t>A live endpoint ties the AWS-served application back to a source commit.</a:t>
            </a:r>
          </a:p>
        </p:txBody>
      </p:sp>
      <p:sp>
        <p:nvSpPr>
          <p:cNvPr id="4" name="">
            <a:extLst xmlns:a="http://schemas.openxmlformats.org/drawingml/2006/main">
              <a:ext uri="{FF2B5EF4-FFF2-40B4-BE49-F238E27FC236}">
                <a16:creationId xmlns:a16="http://schemas.microsoft.com/office/drawing/2014/main" id="{189E4C9B-FF6A-420D-B02C-5B495BA8BC60}"/>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D8E0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424725C-F62C-4491-A054-0DC8FE40DB47}"/>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27581"/>
                </a:solidFill>
                <a:latin typeface="Arial"/>
                <a:ea typeface="Arial"/>
                <a:cs typeface="Arial"/>
              </a:defRPr>
            </a:defPPr>
          </a:lstStyle>
          <a:p xmlns:a="http://schemas.openxmlformats.org/drawingml/2006/main">
            <a:pPr algn="l">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STOCKPILOT  •  DEVOPS CAPSTONE</a:t>
            </a:r>
          </a:p>
        </p:txBody>
      </p:sp>
      <p:sp>
        <p:nvSpPr>
          <p:cNvPr id="6" name="">
            <a:extLst xmlns:a="http://schemas.openxmlformats.org/drawingml/2006/main">
              <a:ext uri="{FF2B5EF4-FFF2-40B4-BE49-F238E27FC236}">
                <a16:creationId xmlns:a16="http://schemas.microsoft.com/office/drawing/2014/main" id="{A57C087A-13A7-49E6-92C7-70EA1AE0CC15}"/>
              </a:ext>
            </a:extLst>
          </p:cNvPr>
          <p:cNvSpPr>
            <a:spLocks xmlns:a="http://schemas.openxmlformats.org/drawingml/2006/main" noGrp="1"/>
          </p:cNvSpPr>
          <p:nvPr/>
        </p:nvSpPr>
        <p:spPr>
          <a:xfrm xmlns:a="http://schemas.openxmlformats.org/drawingml/2006/main">
            <a:off x="11096625" y="64865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627581"/>
                </a:solidFill>
                <a:latin typeface="Arial"/>
                <a:ea typeface="Arial"/>
                <a:cs typeface="Arial"/>
              </a:defRPr>
            </a:defPPr>
          </a:lstStyle>
          <a:p xmlns:a="http://schemas.openxmlformats.org/drawingml/2006/main">
            <a:pPr algn="r">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06</a:t>
            </a:r>
          </a:p>
        </p:txBody>
      </p:sp>
      <p:sp>
        <p:nvSpPr>
          <p:cNvPr id="7" name="screenshot-frame">
            <a:extLst xmlns:a="http://schemas.openxmlformats.org/drawingml/2006/main">
              <a:ext uri="{FF2B5EF4-FFF2-40B4-BE49-F238E27FC236}">
                <a16:creationId xmlns:a16="http://schemas.microsoft.com/office/drawing/2014/main" id="{79022176-25D7-4EEA-ACFC-E9706E7EBD90}"/>
              </a:ext>
            </a:extLst>
          </p:cNvPr>
          <p:cNvSpPr>
            <a:spLocks xmlns:a="http://schemas.openxmlformats.org/drawingml/2006/main" noGrp="1"/>
          </p:cNvSpPr>
          <p:nvPr/>
        </p:nvSpPr>
        <p:spPr>
          <a:xfrm xmlns:a="http://schemas.openxmlformats.org/drawingml/2006/main">
            <a:off x="571500" y="1619250"/>
            <a:ext cx="640080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9525">
            <a:solidFill>
              <a:srgbClr val="D8E0DE"/>
            </a:solidFill>
            <a:prstDash val="solid"/>
          </a:ln>
        </p:spPr>
      </p:sp>
      <p:pic>
        <p:nvPicPr>
          <p:cNvPr id="8" name="">
            <a:extLst xmlns:a="http://schemas.openxmlformats.org/drawingml/2006/main">
              <a:ext uri="{FF2B5EF4-FFF2-40B4-BE49-F238E27FC236}">
                <a16:creationId xmlns:a16="http://schemas.microsoft.com/office/drawing/2014/main" id="{37B52C5B-7BC2-497B-BE2F-5C9C003EB65E}"/>
              </a:ext>
            </a:extLst>
          </p:cNvPr>
          <p:cNvPicPr>
            <a:picLocks xmlns:a="http://schemas.openxmlformats.org/drawingml/2006/main" noChangeAspect="1"/>
          </p:cNvPicPr>
          <p:nvPr/>
        </p:nvPicPr>
        <p:blipFill>
          <a:blip xmlns:r="http://schemas.openxmlformats.org/officeDocument/2006/relationships" xmlns:a="http://schemas.openxmlformats.org/drawingml/2006/main" r:embed="R40095fce721347c0"/>
          <a:stretch xmlns:a="http://schemas.openxmlformats.org/drawingml/2006/main"/>
        </p:blipFill>
        <p:spPr>
          <a:xfrm xmlns:a="http://schemas.openxmlformats.org/drawingml/2006/main">
            <a:off x="609600" y="1962877"/>
            <a:ext cx="6324600" cy="3217996"/>
          </a:xfrm>
          <a:prstGeom xmlns:a="http://schemas.openxmlformats.org/drawingml/2006/main" prst="roundRect">
            <a:avLst>
              <a:gd name="adj" fmla="val 2488"/>
            </a:avLst>
          </a:prstGeom>
        </p:spPr>
      </p:pic>
      <p:sp>
        <p:nvSpPr>
          <p:cNvPr id="9" name="screenshot-frame">
            <a:extLst xmlns:a="http://schemas.openxmlformats.org/drawingml/2006/main">
              <a:ext uri="{FF2B5EF4-FFF2-40B4-BE49-F238E27FC236}">
                <a16:creationId xmlns:a16="http://schemas.microsoft.com/office/drawing/2014/main" id="{5165A6A4-BBD7-47FA-A1AC-40C840916295}"/>
              </a:ext>
            </a:extLst>
          </p:cNvPr>
          <p:cNvSpPr>
            <a:spLocks xmlns:a="http://schemas.openxmlformats.org/drawingml/2006/main" noGrp="1"/>
          </p:cNvSpPr>
          <p:nvPr/>
        </p:nvSpPr>
        <p:spPr>
          <a:xfrm xmlns:a="http://schemas.openxmlformats.org/drawingml/2006/main">
            <a:off x="7181850" y="1809750"/>
            <a:ext cx="4438650" cy="2990850"/>
          </a:xfrm>
          <a:prstGeom xmlns:a="http://schemas.openxmlformats.org/drawingml/2006/main" prst="roundRect">
            <a:avLst>
              <a:gd name="adj" fmla="val 2548"/>
            </a:avLst>
          </a:prstGeom>
          <a:solidFill xmlns:a="http://schemas.openxmlformats.org/drawingml/2006/main">
            <a:srgbClr val="FFFFFF"/>
          </a:solidFill>
          <a:ln xmlns:a="http://schemas.openxmlformats.org/drawingml/2006/main" w="9525">
            <a:solidFill>
              <a:srgbClr val="D8E0DE"/>
            </a:solidFill>
            <a:prstDash val="solid"/>
          </a:ln>
        </p:spPr>
      </p:sp>
      <p:pic>
        <p:nvPicPr>
          <p:cNvPr id="10" name="">
            <a:extLst xmlns:a="http://schemas.openxmlformats.org/drawingml/2006/main">
              <a:ext uri="{FF2B5EF4-FFF2-40B4-BE49-F238E27FC236}">
                <a16:creationId xmlns:a16="http://schemas.microsoft.com/office/drawing/2014/main" id="{2EDC531E-DC4A-4758-9C13-10C4F56EA59F}"/>
              </a:ext>
            </a:extLst>
          </p:cNvPr>
          <p:cNvPicPr>
            <a:picLocks xmlns:a="http://schemas.openxmlformats.org/drawingml/2006/main" noChangeAspect="1"/>
          </p:cNvPicPr>
          <p:nvPr/>
        </p:nvPicPr>
        <p:blipFill>
          <a:blip xmlns:r="http://schemas.openxmlformats.org/officeDocument/2006/relationships" xmlns:a="http://schemas.openxmlformats.org/drawingml/2006/main" r:embed="Ra6e8328c2d174bdc"/>
          <a:stretch xmlns:a="http://schemas.openxmlformats.org/drawingml/2006/main"/>
        </p:blipFill>
        <p:spPr>
          <a:xfrm xmlns:a="http://schemas.openxmlformats.org/drawingml/2006/main">
            <a:off x="7219950" y="2930672"/>
            <a:ext cx="4362450" cy="749005"/>
          </a:xfrm>
          <a:prstGeom xmlns:a="http://schemas.openxmlformats.org/drawingml/2006/main" prst="roundRect">
            <a:avLst>
              <a:gd name="adj" fmla="val 3268"/>
            </a:avLst>
          </a:prstGeom>
        </p:spPr>
      </p:pic>
      <p:sp>
        <p:nvSpPr>
          <p:cNvPr id="11" name="">
            <a:extLst xmlns:a="http://schemas.openxmlformats.org/drawingml/2006/main">
              <a:ext uri="{FF2B5EF4-FFF2-40B4-BE49-F238E27FC236}">
                <a16:creationId xmlns:a16="http://schemas.microsoft.com/office/drawing/2014/main" id="{E66B3AF5-4662-4DCA-9458-EB89B182D660}"/>
              </a:ext>
            </a:extLst>
          </p:cNvPr>
          <p:cNvSpPr>
            <a:spLocks xmlns:a="http://schemas.openxmlformats.org/drawingml/2006/main" noGrp="1"/>
          </p:cNvSpPr>
          <p:nvPr/>
        </p:nvSpPr>
        <p:spPr>
          <a:xfrm xmlns:a="http://schemas.openxmlformats.org/drawingml/2006/main">
            <a:off x="7219950" y="5010150"/>
            <a:ext cx="1066800" cy="247650"/>
          </a:xfrm>
          <a:prstGeom xmlns:a="http://schemas.openxmlformats.org/drawingml/2006/main" prst="roundRect">
            <a:avLst>
              <a:gd name="adj" fmla="val 30769"/>
            </a:avLst>
          </a:prstGeom>
          <a:solidFill xmlns:a="http://schemas.openxmlformats.org/drawingml/2006/main">
            <a:srgbClr val="167C8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85C61ED-8D6C-4BF5-9AC0-0BE4974ECC4F}"/>
              </a:ext>
            </a:extLst>
          </p:cNvPr>
          <p:cNvSpPr>
            <a:spLocks xmlns:a="http://schemas.openxmlformats.org/drawingml/2006/main" noGrp="1"/>
          </p:cNvSpPr>
          <p:nvPr/>
        </p:nvSpPr>
        <p:spPr>
          <a:xfrm xmlns:a="http://schemas.openxmlformats.org/drawingml/2006/main">
            <a:off x="7315200" y="5019675"/>
            <a:ext cx="8763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FFFFFF"/>
                </a:solidFill>
                <a:latin typeface="Arial"/>
                <a:ea typeface="Arial"/>
                <a:cs typeface="Arial"/>
              </a:defRPr>
            </a:def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RELEASE ID</a:t>
            </a:r>
          </a:p>
        </p:txBody>
      </p:sp>
      <p:sp>
        <p:nvSpPr>
          <p:cNvPr id="13" name="">
            <a:extLst xmlns:a="http://schemas.openxmlformats.org/drawingml/2006/main">
              <a:ext uri="{FF2B5EF4-FFF2-40B4-BE49-F238E27FC236}">
                <a16:creationId xmlns:a16="http://schemas.microsoft.com/office/drawing/2014/main" id="{736D33B3-A857-434D-A8A3-1A7C17F161B7}"/>
              </a:ext>
            </a:extLst>
          </p:cNvPr>
          <p:cNvSpPr>
            <a:spLocks xmlns:a="http://schemas.openxmlformats.org/drawingml/2006/main" noGrp="1"/>
          </p:cNvSpPr>
          <p:nvPr/>
        </p:nvSpPr>
        <p:spPr>
          <a:xfrm xmlns:a="http://schemas.openxmlformats.org/drawingml/2006/main">
            <a:off x="7219950" y="5372100"/>
            <a:ext cx="419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42D3B"/>
                </a:solidFill>
                <a:latin typeface="Arial"/>
                <a:ea typeface="Arial"/>
                <a:cs typeface="Arial"/>
              </a:defRPr>
            </a:defPPr>
          </a:lstStyle>
          <a:p xmlns:a="http://schemas.openxmlformats.org/drawingml/2006/main">
            <a:pPr algn="l">
              <a:lnSpc>
                <a:spcPct val="100000"/>
              </a:lnSpc>
              <a:buNone/>
              <a:defRPr sz="1650" b="1">
                <a:solidFill>
                  <a:srgbClr val="142D3B"/>
                </a:solidFill>
                <a:latin typeface="Arial"/>
                <a:ea typeface="Arial"/>
                <a:cs typeface="Arial"/>
              </a:defRPr>
            </a:pPr>
            <a:r>
              <a:rPr sz="1650" b="1">
                <a:solidFill>
                  <a:srgbClr val="142D3B"/>
                </a:solidFill>
                <a:latin typeface="Arial"/>
                <a:ea typeface="Arial"/>
                <a:cs typeface="Arial"/>
              </a:rPr>
              <a:t>9e5b89aefb8f…</a:t>
            </a:r>
          </a:p>
        </p:txBody>
      </p:sp>
      <p:sp>
        <p:nvSpPr>
          <p:cNvPr id="14" name="">
            <a:extLst xmlns:a="http://schemas.openxmlformats.org/drawingml/2006/main">
              <a:ext uri="{FF2B5EF4-FFF2-40B4-BE49-F238E27FC236}">
                <a16:creationId xmlns:a16="http://schemas.microsoft.com/office/drawing/2014/main" id="{184F27E7-DF32-4EBE-839A-59FD1D1C4233}"/>
              </a:ext>
            </a:extLst>
          </p:cNvPr>
          <p:cNvSpPr>
            <a:spLocks xmlns:a="http://schemas.openxmlformats.org/drawingml/2006/main" noGrp="1"/>
          </p:cNvSpPr>
          <p:nvPr/>
        </p:nvSpPr>
        <p:spPr>
          <a:xfrm xmlns:a="http://schemas.openxmlformats.org/drawingml/2006/main">
            <a:off x="7219950" y="5753100"/>
            <a:ext cx="41624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627581"/>
                </a:solidFill>
                <a:latin typeface="Arial"/>
                <a:ea typeface="Arial"/>
                <a:cs typeface="Arial"/>
              </a:defRPr>
            </a:defPPr>
          </a:lstStyle>
          <a:p xmlns:a="http://schemas.openxmlformats.org/drawingml/2006/main">
            <a:pPr algn="l">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/api/version returned the StockPilot service name and deployed commit SHA.</a:t>
            </a:r>
          </a:p>
        </p:txBody>
      </p:sp>
    </p:spTree>
    <p:extLst>
      <p:ext uri="{BB962C8B-B14F-4D97-AF65-F5344CB8AC3E}">
        <p14:creationId xmlns:p14="http://schemas.microsoft.com/office/powerpoint/2010/main" val="1707710726"/>
      </p:ext>
    </p:extLst>
  </p:cSld>
</p:sld>
</file>

<file path=ppt/slides/slide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429788B-1855-43BD-BFC9-B1E0853CDDBB}"/>
              </a:ext>
            </a:extLst>
          </p:cNvPr>
          <p:cNvSpPr>
            <a:spLocks xmlns:a="http://schemas.openxmlformats.org/drawingml/2006/main" noGrp="1"/>
          </p:cNvSpPr>
          <p:nvPr/>
        </p:nvSpPr>
        <p:spPr>
          <a:xfrm xmlns:a="http://schemas.openxmlformats.org/drawingml/2006/main">
            <a:off x="609600" y="323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67C80"/>
                </a:solidFill>
                <a:latin typeface="Arial"/>
                <a:ea typeface="Arial"/>
                <a:cs typeface="Arial"/>
              </a:defRPr>
            </a:defPPr>
          </a:lstStyle>
          <a:p xmlns:a="http://schemas.openxmlformats.org/drawingml/2006/main">
            <a:pPr algn="l">
              <a:lnSpc>
                <a:spcPct val="100000"/>
              </a:lnSpc>
              <a:buNone/>
              <a:defRPr sz="975" b="1">
                <a:solidFill>
                  <a:srgbClr val="167C80"/>
                </a:solidFill>
                <a:latin typeface="Arial"/>
                <a:ea typeface="Arial"/>
                <a:cs typeface="Arial"/>
              </a:defRPr>
            </a:pPr>
            <a:r>
              <a:rPr sz="975" b="1">
                <a:solidFill>
                  <a:srgbClr val="167C80"/>
                </a:solidFill>
                <a:latin typeface="Arial"/>
                <a:ea typeface="Arial"/>
                <a:cs typeface="Arial"/>
              </a:rPr>
              <a:t>06  /  OBSERVABILITY</a:t>
            </a:r>
          </a:p>
        </p:txBody>
      </p:sp>
      <p:sp>
        <p:nvSpPr>
          <p:cNvPr id="2" name="">
            <a:extLst xmlns:a="http://schemas.openxmlformats.org/drawingml/2006/main">
              <a:ext uri="{FF2B5EF4-FFF2-40B4-BE49-F238E27FC236}">
                <a16:creationId xmlns:a16="http://schemas.microsoft.com/office/drawing/2014/main" id="{E1BDD3F2-D898-425B-AAEA-DB5009522DB3}"/>
              </a:ext>
            </a:extLst>
          </p:cNvPr>
          <p:cNvSpPr>
            <a:spLocks xmlns:a="http://schemas.openxmlformats.org/drawingml/2006/main" noGrp="1"/>
          </p:cNvSpPr>
          <p:nvPr/>
        </p:nvSpPr>
        <p:spPr>
          <a:xfrm xmlns:a="http://schemas.openxmlformats.org/drawingml/2006/main">
            <a:off x="609600" y="581025"/>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42D3B"/>
                </a:solidFill>
                <a:latin typeface="Arial"/>
                <a:ea typeface="Arial"/>
                <a:cs typeface="Arial"/>
              </a:defRPr>
            </a:defPPr>
          </a:lstStyle>
          <a:p xmlns:a="http://schemas.openxmlformats.org/drawingml/2006/main">
            <a:pPr algn="l">
              <a:lnSpc>
                <a:spcPct val="100000"/>
              </a:lnSpc>
              <a:buNone/>
              <a:defRPr sz="2550" b="1">
                <a:solidFill>
                  <a:srgbClr val="142D3B"/>
                </a:solidFill>
                <a:latin typeface="Arial"/>
                <a:ea typeface="Arial"/>
                <a:cs typeface="Arial"/>
              </a:defRPr>
            </a:pPr>
            <a:r>
              <a:rPr sz="2550" b="1">
                <a:solidFill>
                  <a:srgbClr val="142D3B"/>
                </a:solidFill>
                <a:latin typeface="Arial"/>
                <a:ea typeface="Arial"/>
                <a:cs typeface="Arial"/>
              </a:rPr>
              <a:t>See the service while it is under traffic</a:t>
            </a:r>
          </a:p>
        </p:txBody>
      </p:sp>
      <p:sp>
        <p:nvSpPr>
          <p:cNvPr id="3" name="">
            <a:extLst xmlns:a="http://schemas.openxmlformats.org/drawingml/2006/main">
              <a:ext uri="{FF2B5EF4-FFF2-40B4-BE49-F238E27FC236}">
                <a16:creationId xmlns:a16="http://schemas.microsoft.com/office/drawing/2014/main" id="{9C5AA313-2F42-4F9D-A78F-8DCE5A87DD04}"/>
              </a:ext>
            </a:extLst>
          </p:cNvPr>
          <p:cNvSpPr>
            <a:spLocks xmlns:a="http://schemas.openxmlformats.org/drawingml/2006/main" noGrp="1"/>
          </p:cNvSpPr>
          <p:nvPr/>
        </p:nvSpPr>
        <p:spPr>
          <a:xfrm xmlns:a="http://schemas.openxmlformats.org/drawingml/2006/main">
            <a:off x="628650" y="1114425"/>
            <a:ext cx="1093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627581"/>
                </a:solidFill>
                <a:latin typeface="Arial"/>
                <a:ea typeface="Arial"/>
                <a:cs typeface="Arial"/>
              </a:defRPr>
            </a:defPPr>
          </a:lstStyle>
          <a:p xmlns:a="http://schemas.openxmlformats.org/drawingml/2006/main">
            <a:pPr algn="l">
              <a:lnSpc>
                <a:spcPct val="100000"/>
              </a:lnSpc>
              <a:buNone/>
              <a:defRPr sz="1275" b="0">
                <a:solidFill>
                  <a:srgbClr val="627581"/>
                </a:solidFill>
                <a:latin typeface="Arial"/>
                <a:ea typeface="Arial"/>
                <a:cs typeface="Arial"/>
              </a:defRPr>
            </a:pPr>
            <a:r>
              <a:rPr sz="1275" b="0">
                <a:solidFill>
                  <a:srgbClr val="627581"/>
                </a:solidFill>
                <a:latin typeface="Arial"/>
                <a:ea typeface="Arial"/>
                <a:cs typeface="Arial"/>
              </a:rPr>
              <a:t>Prometheus collects metrics; Grafana makes the runtime behavior readable.</a:t>
            </a:r>
          </a:p>
        </p:txBody>
      </p:sp>
      <p:sp>
        <p:nvSpPr>
          <p:cNvPr id="4" name="">
            <a:extLst xmlns:a="http://schemas.openxmlformats.org/drawingml/2006/main">
              <a:ext uri="{FF2B5EF4-FFF2-40B4-BE49-F238E27FC236}">
                <a16:creationId xmlns:a16="http://schemas.microsoft.com/office/drawing/2014/main" id="{5A08E4FA-AFA3-495D-ACC5-E7A781D828C5}"/>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D8E0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A23EE65-210C-4DCF-96EA-A4110000C1C4}"/>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27581"/>
                </a:solidFill>
                <a:latin typeface="Arial"/>
                <a:ea typeface="Arial"/>
                <a:cs typeface="Arial"/>
              </a:defRPr>
            </a:defPPr>
          </a:lstStyle>
          <a:p xmlns:a="http://schemas.openxmlformats.org/drawingml/2006/main">
            <a:pPr algn="l">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STOCKPILOT  •  DEVOPS CAPSTONE</a:t>
            </a:r>
          </a:p>
        </p:txBody>
      </p:sp>
      <p:sp>
        <p:nvSpPr>
          <p:cNvPr id="6" name="">
            <a:extLst xmlns:a="http://schemas.openxmlformats.org/drawingml/2006/main">
              <a:ext uri="{FF2B5EF4-FFF2-40B4-BE49-F238E27FC236}">
                <a16:creationId xmlns:a16="http://schemas.microsoft.com/office/drawing/2014/main" id="{80EE1B04-7054-46BC-8D22-6B34BE83E853}"/>
              </a:ext>
            </a:extLst>
          </p:cNvPr>
          <p:cNvSpPr>
            <a:spLocks xmlns:a="http://schemas.openxmlformats.org/drawingml/2006/main" noGrp="1"/>
          </p:cNvSpPr>
          <p:nvPr/>
        </p:nvSpPr>
        <p:spPr>
          <a:xfrm xmlns:a="http://schemas.openxmlformats.org/drawingml/2006/main">
            <a:off x="11096625" y="64865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627581"/>
                </a:solidFill>
                <a:latin typeface="Arial"/>
                <a:ea typeface="Arial"/>
                <a:cs typeface="Arial"/>
              </a:defRPr>
            </a:defPPr>
          </a:lstStyle>
          <a:p xmlns:a="http://schemas.openxmlformats.org/drawingml/2006/main">
            <a:pPr algn="r">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07</a:t>
            </a:r>
          </a:p>
        </p:txBody>
      </p:sp>
      <p:sp>
        <p:nvSpPr>
          <p:cNvPr id="7" name="screenshot-frame">
            <a:extLst xmlns:a="http://schemas.openxmlformats.org/drawingml/2006/main">
              <a:ext uri="{FF2B5EF4-FFF2-40B4-BE49-F238E27FC236}">
                <a16:creationId xmlns:a16="http://schemas.microsoft.com/office/drawing/2014/main" id="{765A3B16-4DCA-44B1-A85A-9617D4D95D23}"/>
              </a:ext>
            </a:extLst>
          </p:cNvPr>
          <p:cNvSpPr>
            <a:spLocks xmlns:a="http://schemas.openxmlformats.org/drawingml/2006/main" noGrp="1"/>
          </p:cNvSpPr>
          <p:nvPr/>
        </p:nvSpPr>
        <p:spPr>
          <a:xfrm xmlns:a="http://schemas.openxmlformats.org/drawingml/2006/main">
            <a:off x="571500" y="1619250"/>
            <a:ext cx="7715250" cy="4191000"/>
          </a:xfrm>
          <a:prstGeom xmlns:a="http://schemas.openxmlformats.org/drawingml/2006/main" prst="roundRect">
            <a:avLst>
              <a:gd name="adj" fmla="val 1818"/>
            </a:avLst>
          </a:prstGeom>
          <a:solidFill xmlns:a="http://schemas.openxmlformats.org/drawingml/2006/main">
            <a:srgbClr val="FFFFFF"/>
          </a:solidFill>
          <a:ln xmlns:a="http://schemas.openxmlformats.org/drawingml/2006/main" w="9525">
            <a:solidFill>
              <a:srgbClr val="D8E0DE"/>
            </a:solidFill>
            <a:prstDash val="solid"/>
          </a:ln>
        </p:spPr>
      </p:sp>
      <p:pic>
        <p:nvPicPr>
          <p:cNvPr id="8" name="">
            <a:extLst xmlns:a="http://schemas.openxmlformats.org/drawingml/2006/main">
              <a:ext uri="{FF2B5EF4-FFF2-40B4-BE49-F238E27FC236}">
                <a16:creationId xmlns:a16="http://schemas.microsoft.com/office/drawing/2014/main" id="{343D77AE-D35F-4CF8-895C-23F30A521DD6}"/>
              </a:ext>
            </a:extLst>
          </p:cNvPr>
          <p:cNvPicPr>
            <a:picLocks xmlns:a="http://schemas.openxmlformats.org/drawingml/2006/main" noChangeAspect="1"/>
          </p:cNvPicPr>
          <p:nvPr/>
        </p:nvPicPr>
        <p:blipFill>
          <a:blip xmlns:r="http://schemas.openxmlformats.org/officeDocument/2006/relationships" xmlns:a="http://schemas.openxmlformats.org/drawingml/2006/main" r:embed="Rbcebf373015e4fc8"/>
          <a:stretch xmlns:a="http://schemas.openxmlformats.org/drawingml/2006/main"/>
        </p:blipFill>
        <p:spPr>
          <a:xfrm xmlns:a="http://schemas.openxmlformats.org/drawingml/2006/main">
            <a:off x="609600" y="1749001"/>
            <a:ext cx="7639050" cy="3931498"/>
          </a:xfrm>
          <a:prstGeom xmlns:a="http://schemas.openxmlformats.org/drawingml/2006/main" prst="roundRect">
            <a:avLst>
              <a:gd name="adj" fmla="val 2315"/>
            </a:avLst>
          </a:prstGeom>
        </p:spPr>
      </p:pic>
      <p:sp>
        <p:nvSpPr>
          <p:cNvPr id="9" name="screenshot-frame">
            <a:extLst xmlns:a="http://schemas.openxmlformats.org/drawingml/2006/main">
              <a:ext uri="{FF2B5EF4-FFF2-40B4-BE49-F238E27FC236}">
                <a16:creationId xmlns:a16="http://schemas.microsoft.com/office/drawing/2014/main" id="{BF145D12-FA57-4593-912D-C8F336128876}"/>
              </a:ext>
            </a:extLst>
          </p:cNvPr>
          <p:cNvSpPr>
            <a:spLocks xmlns:a="http://schemas.openxmlformats.org/drawingml/2006/main" noGrp="1"/>
          </p:cNvSpPr>
          <p:nvPr/>
        </p:nvSpPr>
        <p:spPr>
          <a:xfrm xmlns:a="http://schemas.openxmlformats.org/drawingml/2006/main">
            <a:off x="8439150" y="1619250"/>
            <a:ext cx="3181350" cy="4191000"/>
          </a:xfrm>
          <a:prstGeom xmlns:a="http://schemas.openxmlformats.org/drawingml/2006/main" prst="roundRect">
            <a:avLst>
              <a:gd name="adj" fmla="val 2395"/>
            </a:avLst>
          </a:prstGeom>
          <a:solidFill xmlns:a="http://schemas.openxmlformats.org/drawingml/2006/main">
            <a:srgbClr val="FFFFFF"/>
          </a:solidFill>
          <a:ln xmlns:a="http://schemas.openxmlformats.org/drawingml/2006/main" w="9525">
            <a:solidFill>
              <a:srgbClr val="D8E0DE"/>
            </a:solidFill>
            <a:prstDash val="solid"/>
          </a:ln>
        </p:spPr>
      </p:sp>
      <p:pic>
        <p:nvPicPr>
          <p:cNvPr id="10" name="">
            <a:extLst xmlns:a="http://schemas.openxmlformats.org/drawingml/2006/main">
              <a:ext uri="{FF2B5EF4-FFF2-40B4-BE49-F238E27FC236}">
                <a16:creationId xmlns:a16="http://schemas.microsoft.com/office/drawing/2014/main" id="{B5DF875D-E5FE-4D6E-AFAB-29C4288A349C}"/>
              </a:ext>
            </a:extLst>
          </p:cNvPr>
          <p:cNvPicPr>
            <a:picLocks xmlns:a="http://schemas.openxmlformats.org/drawingml/2006/main" noChangeAspect="1"/>
          </p:cNvPicPr>
          <p:nvPr/>
        </p:nvPicPr>
        <p:blipFill>
          <a:blip xmlns:r="http://schemas.openxmlformats.org/officeDocument/2006/relationships" xmlns:a="http://schemas.openxmlformats.org/drawingml/2006/main" r:embed="R5285e2e765614cde"/>
          <a:stretch xmlns:a="http://schemas.openxmlformats.org/drawingml/2006/main"/>
        </p:blipFill>
        <p:spPr>
          <a:xfrm xmlns:a="http://schemas.openxmlformats.org/drawingml/2006/main">
            <a:off x="8477250" y="2929865"/>
            <a:ext cx="3105150" cy="1569770"/>
          </a:xfrm>
          <a:prstGeom xmlns:a="http://schemas.openxmlformats.org/drawingml/2006/main" prst="roundRect">
            <a:avLst>
              <a:gd name="adj" fmla="val 3067"/>
            </a:avLst>
          </a:prstGeom>
        </p:spPr>
      </p:pic>
      <p:sp>
        <p:nvSpPr>
          <p:cNvPr id="11" name="">
            <a:extLst xmlns:a="http://schemas.openxmlformats.org/drawingml/2006/main">
              <a:ext uri="{FF2B5EF4-FFF2-40B4-BE49-F238E27FC236}">
                <a16:creationId xmlns:a16="http://schemas.microsoft.com/office/drawing/2014/main" id="{3271D5B4-C476-473E-8C6F-DD9BB71FA6F0}"/>
              </a:ext>
            </a:extLst>
          </p:cNvPr>
          <p:cNvSpPr>
            <a:spLocks xmlns:a="http://schemas.openxmlformats.org/drawingml/2006/main" noGrp="1"/>
          </p:cNvSpPr>
          <p:nvPr/>
        </p:nvSpPr>
        <p:spPr>
          <a:xfrm xmlns:a="http://schemas.openxmlformats.org/drawingml/2006/main">
            <a:off x="628650" y="5857875"/>
            <a:ext cx="752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42D3B"/>
                </a:solidFill>
                <a:latin typeface="Arial"/>
                <a:ea typeface="Arial"/>
                <a:cs typeface="Arial"/>
              </a:defRPr>
            </a:defPPr>
          </a:lstStyle>
          <a:p xmlns:a="http://schemas.openxmlformats.org/drawingml/2006/main">
            <a:pPr algn="l">
              <a:lnSpc>
                <a:spcPct val="100000"/>
              </a:lnSpc>
              <a:buNone/>
              <a:defRPr sz="1050" b="1">
                <a:solidFill>
                  <a:srgbClr val="142D3B"/>
                </a:solidFill>
                <a:latin typeface="Arial"/>
                <a:ea typeface="Arial"/>
                <a:cs typeface="Arial"/>
              </a:defRPr>
            </a:pPr>
            <a:r>
              <a:rPr sz="1050" b="1">
                <a:solidFill>
                  <a:srgbClr val="142D3B"/>
                </a:solidFill>
                <a:latin typeface="Arial"/>
                <a:ea typeface="Arial"/>
                <a:cs typeface="Arial"/>
              </a:rPr>
              <a:t>Grafana · request rate, p95 latency, errors and CPU</a:t>
            </a:r>
          </a:p>
        </p:txBody>
      </p:sp>
      <p:sp>
        <p:nvSpPr>
          <p:cNvPr id="12" name="">
            <a:extLst xmlns:a="http://schemas.openxmlformats.org/drawingml/2006/main">
              <a:ext uri="{FF2B5EF4-FFF2-40B4-BE49-F238E27FC236}">
                <a16:creationId xmlns:a16="http://schemas.microsoft.com/office/drawing/2014/main" id="{AAB6C177-2ED9-4A95-98C7-1D196D86D3CF}"/>
              </a:ext>
            </a:extLst>
          </p:cNvPr>
          <p:cNvSpPr>
            <a:spLocks xmlns:a="http://schemas.openxmlformats.org/drawingml/2006/main" noGrp="1"/>
          </p:cNvSpPr>
          <p:nvPr/>
        </p:nvSpPr>
        <p:spPr>
          <a:xfrm xmlns:a="http://schemas.openxmlformats.org/drawingml/2006/main">
            <a:off x="8496300" y="5857875"/>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42D3B"/>
                </a:solidFill>
                <a:latin typeface="Arial"/>
                <a:ea typeface="Arial"/>
                <a:cs typeface="Arial"/>
              </a:defRPr>
            </a:defPPr>
          </a:lstStyle>
          <a:p xmlns:a="http://schemas.openxmlformats.org/drawingml/2006/main">
            <a:pPr algn="l">
              <a:lnSpc>
                <a:spcPct val="100000"/>
              </a:lnSpc>
              <a:buNone/>
              <a:defRPr sz="1050" b="1">
                <a:solidFill>
                  <a:srgbClr val="142D3B"/>
                </a:solidFill>
                <a:latin typeface="Arial"/>
                <a:ea typeface="Arial"/>
                <a:cs typeface="Arial"/>
              </a:defRPr>
            </a:pPr>
            <a:r>
              <a:rPr sz="1050" b="1">
                <a:solidFill>
                  <a:srgbClr val="142D3B"/>
                </a:solidFill>
                <a:latin typeface="Arial"/>
                <a:ea typeface="Arial"/>
                <a:cs typeface="Arial"/>
              </a:rPr>
              <a:t>Prometheus · target health</a:t>
            </a:r>
          </a:p>
        </p:txBody>
      </p:sp>
    </p:spTree>
    <p:extLst>
      <p:ext uri="{BB962C8B-B14F-4D97-AF65-F5344CB8AC3E}">
        <p14:creationId xmlns:p14="http://schemas.microsoft.com/office/powerpoint/2010/main" val="1017972741"/>
      </p:ext>
    </p:extLst>
  </p:cSld>
</p:sld>
</file>

<file path=ppt/slides/slide8.xml><?xml version="1.0" encoding="utf-8"?>
<p:sld xmlns:p="http://schemas.openxmlformats.org/presentationml/2006/main">
  <p:cSld>
    <p:bg>
      <p:bgPr>
        <a:solidFill xmlns:a="http://schemas.openxmlformats.org/drawingml/2006/main">
          <a:srgbClr val="102B3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9975E3D6-0397-4C62-8EC9-01F07EB6A8ED}"/>
              </a:ext>
            </a:extLst>
          </p:cNvPr>
          <p:cNvSpPr>
            <a:spLocks xmlns:a="http://schemas.openxmlformats.org/drawingml/2006/main" noGrp="1"/>
          </p:cNvSpPr>
          <p:nvPr/>
        </p:nvSpPr>
        <p:spPr>
          <a:xfrm xmlns:a="http://schemas.openxmlformats.org/drawingml/2006/main">
            <a:off x="609600" y="4762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9ED9D2"/>
                </a:solidFill>
                <a:latin typeface="Arial"/>
                <a:ea typeface="Arial"/>
                <a:cs typeface="Arial"/>
              </a:defRPr>
            </a:defPPr>
          </a:lstStyle>
          <a:p xmlns:a="http://schemas.openxmlformats.org/drawingml/2006/main">
            <a:pPr algn="l">
              <a:lnSpc>
                <a:spcPct val="100000"/>
              </a:lnSpc>
              <a:buNone/>
              <a:defRPr sz="975" b="1">
                <a:solidFill>
                  <a:srgbClr val="9ED9D2"/>
                </a:solidFill>
                <a:latin typeface="Arial"/>
                <a:ea typeface="Arial"/>
                <a:cs typeface="Arial"/>
              </a:defRPr>
            </a:pPr>
            <a:r>
              <a:rPr sz="975" b="1">
                <a:solidFill>
                  <a:srgbClr val="9ED9D2"/>
                </a:solidFill>
                <a:latin typeface="Arial"/>
                <a:ea typeface="Arial"/>
                <a:cs typeface="Arial"/>
              </a:rPr>
              <a:t>07  /  TAKEAWAY</a:t>
            </a:r>
          </a:p>
        </p:txBody>
      </p:sp>
      <p:sp>
        <p:nvSpPr>
          <p:cNvPr id="2" name="">
            <a:extLst xmlns:a="http://schemas.openxmlformats.org/drawingml/2006/main">
              <a:ext uri="{FF2B5EF4-FFF2-40B4-BE49-F238E27FC236}">
                <a16:creationId xmlns:a16="http://schemas.microsoft.com/office/drawing/2014/main" id="{4BDF744C-7474-41A7-BBDE-00289DD0299F}"/>
              </a:ext>
            </a:extLst>
          </p:cNvPr>
          <p:cNvSpPr>
            <a:spLocks xmlns:a="http://schemas.openxmlformats.org/drawingml/2006/main" noGrp="1"/>
          </p:cNvSpPr>
          <p:nvPr/>
        </p:nvSpPr>
        <p:spPr>
          <a:xfrm xmlns:a="http://schemas.openxmlformats.org/drawingml/2006/main">
            <a:off x="609600" y="914400"/>
            <a:ext cx="6191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925" b="1">
                <a:solidFill>
                  <a:srgbClr val="FFFFFF"/>
                </a:solidFill>
                <a:latin typeface="Arial"/>
                <a:ea typeface="Arial"/>
                <a:cs typeface="Arial"/>
              </a:defRPr>
            </a:defPPr>
          </a:lstStyle>
          <a:p xmlns:a="http://schemas.openxmlformats.org/drawingml/2006/main">
            <a:pPr algn="l">
              <a:lnSpc>
                <a:spcPct val="102000"/>
              </a:lnSpc>
              <a:buNone/>
              <a:defRPr sz="2925" b="1">
                <a:solidFill>
                  <a:srgbClr val="FFFFFF"/>
                </a:solidFill>
                <a:latin typeface="Arial"/>
                <a:ea typeface="Arial"/>
                <a:cs typeface="Arial"/>
              </a:defRPr>
            </a:pPr>
            <a:r>
              <a:rPr sz="2925" b="1">
                <a:solidFill>
                  <a:srgbClr val="FFFFFF"/>
                </a:solidFill>
                <a:latin typeface="Arial"/>
                <a:ea typeface="Arial"/>
                <a:cs typeface="Arial"/>
              </a:rPr>
              <a:t>A release you can follow</a:t>
            </a:r>
          </a:p>
          <a:p xmlns:a="http://schemas.openxmlformats.org/drawingml/2006/main">
            <a:pPr algn="l">
              <a:lnSpc>
                <a:spcPct val="102000"/>
              </a:lnSpc>
              <a:buNone/>
              <a:defRPr sz="2925" b="1">
                <a:solidFill>
                  <a:srgbClr val="FFFFFF"/>
                </a:solidFill>
                <a:latin typeface="Arial"/>
                <a:ea typeface="Arial"/>
                <a:cs typeface="Arial"/>
              </a:defRPr>
            </a:pPr>
            <a:r>
              <a:rPr sz="2925" b="1">
                <a:solidFill>
                  <a:srgbClr val="FFFFFF"/>
                </a:solidFill>
                <a:latin typeface="Arial"/>
                <a:ea typeface="Arial"/>
                <a:cs typeface="Arial"/>
              </a:rPr>
              <a:t>from commit to cluster</a:t>
            </a:r>
          </a:p>
        </p:txBody>
      </p:sp>
      <p:sp>
        <p:nvSpPr>
          <p:cNvPr id="3" name="">
            <a:extLst xmlns:a="http://schemas.openxmlformats.org/drawingml/2006/main">
              <a:ext uri="{FF2B5EF4-FFF2-40B4-BE49-F238E27FC236}">
                <a16:creationId xmlns:a16="http://schemas.microsoft.com/office/drawing/2014/main" id="{B5CA4AE0-F7D7-4A30-91C2-3C4DAA7E8C15}"/>
              </a:ext>
            </a:extLst>
          </p:cNvPr>
          <p:cNvSpPr>
            <a:spLocks xmlns:a="http://schemas.openxmlformats.org/drawingml/2006/main" noGrp="1"/>
          </p:cNvSpPr>
          <p:nvPr/>
        </p:nvSpPr>
        <p:spPr>
          <a:xfrm xmlns:a="http://schemas.openxmlformats.org/drawingml/2006/main">
            <a:off x="62865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3612"/>
          </a:bodyPr>
          <a:lstStyle xmlns:a="http://schemas.openxmlformats.org/drawingml/2006/main">
            <a:defPPr algn="l">
              <a:defRPr sz="1500" b="0">
                <a:solidFill>
                  <a:srgbClr val="D8E3E4"/>
                </a:solidFill>
                <a:latin typeface="Arial"/>
                <a:ea typeface="Arial"/>
                <a:cs typeface="Arial"/>
              </a:defRPr>
            </a:defPPr>
          </a:lstStyle>
          <a:p xmlns:a="http://schemas.openxmlformats.org/drawingml/2006/main">
            <a:pPr algn="l">
              <a:lnSpc>
                <a:spcPct val="112000"/>
              </a:lnSpc>
              <a:buNone/>
              <a:defRPr sz="1500" b="0">
                <a:solidFill>
                  <a:srgbClr val="D8E3E4"/>
                </a:solidFill>
                <a:latin typeface="Arial"/>
                <a:ea typeface="Arial"/>
                <a:cs typeface="Arial"/>
              </a:defRPr>
            </a:pPr>
            <a:r>
              <a:rPr sz="1500" b="0">
                <a:solidFill>
                  <a:srgbClr val="D8E3E4"/>
                </a:solidFill>
                <a:latin typeface="Arial"/>
                <a:ea typeface="Arial"/>
                <a:cs typeface="Arial"/>
              </a:rPr>
              <a:t>StockPilot brings together an inventory workflow, automated quality gates, a GitOps-managed AWS deployment, and operational visibility.</a:t>
            </a:r>
          </a:p>
        </p:txBody>
      </p:sp>
      <p:sp>
        <p:nvSpPr>
          <p:cNvPr id="4" name="">
            <a:extLst xmlns:a="http://schemas.openxmlformats.org/drawingml/2006/main">
              <a:ext uri="{FF2B5EF4-FFF2-40B4-BE49-F238E27FC236}">
                <a16:creationId xmlns:a16="http://schemas.microsoft.com/office/drawing/2014/main" id="{F41A7D66-9519-485F-BB8F-B0FAC2900D37}"/>
              </a:ext>
            </a:extLst>
          </p:cNvPr>
          <p:cNvSpPr>
            <a:spLocks xmlns:a="http://schemas.openxmlformats.org/drawingml/2006/main" noGrp="1"/>
          </p:cNvSpPr>
          <p:nvPr/>
        </p:nvSpPr>
        <p:spPr>
          <a:xfrm xmlns:a="http://schemas.openxmlformats.org/drawingml/2006/main">
            <a:off x="647700" y="3371850"/>
            <a:ext cx="238125" cy="238125"/>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579AA52-686C-43DB-A5E8-A012FC4E9E26}"/>
              </a:ext>
            </a:extLst>
          </p:cNvPr>
          <p:cNvSpPr>
            <a:spLocks xmlns:a="http://schemas.openxmlformats.org/drawingml/2006/main" noGrp="1"/>
          </p:cNvSpPr>
          <p:nvPr/>
        </p:nvSpPr>
        <p:spPr>
          <a:xfrm xmlns:a="http://schemas.openxmlformats.org/drawingml/2006/main">
            <a:off x="1047750" y="33528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9ED9D2"/>
                </a:solidFill>
                <a:latin typeface="Arial"/>
                <a:ea typeface="Arial"/>
                <a:cs typeface="Arial"/>
              </a:defRPr>
            </a:defPPr>
          </a:lstStyle>
          <a:p xmlns:a="http://schemas.openxmlformats.org/drawingml/2006/main">
            <a:pPr algn="l">
              <a:lnSpc>
                <a:spcPct val="100000"/>
              </a:lnSpc>
              <a:buNone/>
              <a:defRPr sz="900" b="1">
                <a:solidFill>
                  <a:srgbClr val="9ED9D2"/>
                </a:solidFill>
                <a:latin typeface="Arial"/>
                <a:ea typeface="Arial"/>
                <a:cs typeface="Arial"/>
              </a:defRPr>
            </a:pPr>
            <a:r>
              <a:rPr sz="900" b="1">
                <a:solidFill>
                  <a:srgbClr val="9ED9D2"/>
                </a:solidFill>
                <a:latin typeface="Arial"/>
                <a:ea typeface="Arial"/>
                <a:cs typeface="Arial"/>
              </a:rPr>
              <a:t>CODE</a:t>
            </a:r>
          </a:p>
        </p:txBody>
      </p:sp>
      <p:sp>
        <p:nvSpPr>
          <p:cNvPr id="6" name="">
            <a:extLst xmlns:a="http://schemas.openxmlformats.org/drawingml/2006/main">
              <a:ext uri="{FF2B5EF4-FFF2-40B4-BE49-F238E27FC236}">
                <a16:creationId xmlns:a16="http://schemas.microsoft.com/office/drawing/2014/main" id="{410C3F54-C803-457D-B698-3B179FB115FA}"/>
              </a:ext>
            </a:extLst>
          </p:cNvPr>
          <p:cNvSpPr>
            <a:spLocks xmlns:a="http://schemas.openxmlformats.org/drawingml/2006/main" noGrp="1"/>
          </p:cNvSpPr>
          <p:nvPr/>
        </p:nvSpPr>
        <p:spPr>
          <a:xfrm xmlns:a="http://schemas.openxmlformats.org/drawingml/2006/main">
            <a:off x="2171700" y="334327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lnSpc>
                <a:spcPct val="100000"/>
              </a:lnSpc>
              <a:buNone/>
              <a:defRPr sz="1275" b="1">
                <a:solidFill>
                  <a:srgbClr val="FFFFFF"/>
                </a:solidFill>
                <a:latin typeface="Arial"/>
                <a:ea typeface="Arial"/>
                <a:cs typeface="Arial"/>
              </a:defRPr>
            </a:pPr>
            <a:r>
              <a:rPr sz="1275" b="1">
                <a:solidFill>
                  <a:srgbClr val="FFFFFF"/>
                </a:solidFill>
                <a:latin typeface="Arial"/>
                <a:ea typeface="Arial"/>
                <a:cs typeface="Arial"/>
              </a:rPr>
              <a:t>Product + stock ledger</a:t>
            </a:r>
          </a:p>
        </p:txBody>
      </p:sp>
      <p:sp>
        <p:nvSpPr>
          <p:cNvPr id="7" name="">
            <a:extLst xmlns:a="http://schemas.openxmlformats.org/drawingml/2006/main">
              <a:ext uri="{FF2B5EF4-FFF2-40B4-BE49-F238E27FC236}">
                <a16:creationId xmlns:a16="http://schemas.microsoft.com/office/drawing/2014/main" id="{4EC77AB9-7E9A-44AE-8879-B6B354EAF55A}"/>
              </a:ext>
            </a:extLst>
          </p:cNvPr>
          <p:cNvSpPr>
            <a:spLocks xmlns:a="http://schemas.openxmlformats.org/drawingml/2006/main" noGrp="1"/>
          </p:cNvSpPr>
          <p:nvPr/>
        </p:nvSpPr>
        <p:spPr>
          <a:xfrm xmlns:a="http://schemas.openxmlformats.org/drawingml/2006/main">
            <a:off x="647700" y="3867150"/>
            <a:ext cx="238125" cy="238125"/>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CA60483-B83B-4289-9C6C-B760A8D9091F}"/>
              </a:ext>
            </a:extLst>
          </p:cNvPr>
          <p:cNvSpPr>
            <a:spLocks xmlns:a="http://schemas.openxmlformats.org/drawingml/2006/main" noGrp="1"/>
          </p:cNvSpPr>
          <p:nvPr/>
        </p:nvSpPr>
        <p:spPr>
          <a:xfrm xmlns:a="http://schemas.openxmlformats.org/drawingml/2006/main">
            <a:off x="1047750" y="38481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9ED9D2"/>
                </a:solidFill>
                <a:latin typeface="Arial"/>
                <a:ea typeface="Arial"/>
                <a:cs typeface="Arial"/>
              </a:defRPr>
            </a:defPPr>
          </a:lstStyle>
          <a:p xmlns:a="http://schemas.openxmlformats.org/drawingml/2006/main">
            <a:pPr algn="l">
              <a:lnSpc>
                <a:spcPct val="100000"/>
              </a:lnSpc>
              <a:buNone/>
              <a:defRPr sz="900" b="1">
                <a:solidFill>
                  <a:srgbClr val="9ED9D2"/>
                </a:solidFill>
                <a:latin typeface="Arial"/>
                <a:ea typeface="Arial"/>
                <a:cs typeface="Arial"/>
              </a:defRPr>
            </a:pPr>
            <a:r>
              <a:rPr sz="900" b="1">
                <a:solidFill>
                  <a:srgbClr val="9ED9D2"/>
                </a:solidFill>
                <a:latin typeface="Arial"/>
                <a:ea typeface="Arial"/>
                <a:cs typeface="Arial"/>
              </a:rPr>
              <a:t>VERIFY</a:t>
            </a:r>
          </a:p>
        </p:txBody>
      </p:sp>
      <p:sp>
        <p:nvSpPr>
          <p:cNvPr id="9" name="">
            <a:extLst xmlns:a="http://schemas.openxmlformats.org/drawingml/2006/main">
              <a:ext uri="{FF2B5EF4-FFF2-40B4-BE49-F238E27FC236}">
                <a16:creationId xmlns:a16="http://schemas.microsoft.com/office/drawing/2014/main" id="{9606E652-7DCE-4F9A-A49F-E29A80430AE2}"/>
              </a:ext>
            </a:extLst>
          </p:cNvPr>
          <p:cNvSpPr>
            <a:spLocks xmlns:a="http://schemas.openxmlformats.org/drawingml/2006/main" noGrp="1"/>
          </p:cNvSpPr>
          <p:nvPr/>
        </p:nvSpPr>
        <p:spPr>
          <a:xfrm xmlns:a="http://schemas.openxmlformats.org/drawingml/2006/main">
            <a:off x="2171700" y="383857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lnSpc>
                <a:spcPct val="100000"/>
              </a:lnSpc>
              <a:buNone/>
              <a:defRPr sz="1275" b="1">
                <a:solidFill>
                  <a:srgbClr val="FFFFFF"/>
                </a:solidFill>
                <a:latin typeface="Arial"/>
                <a:ea typeface="Arial"/>
                <a:cs typeface="Arial"/>
              </a:defRPr>
            </a:pPr>
            <a:r>
              <a:rPr sz="1275" b="1">
                <a:solidFill>
                  <a:srgbClr val="FFFFFF"/>
                </a:solidFill>
                <a:latin typeface="Arial"/>
                <a:ea typeface="Arial"/>
                <a:cs typeface="Arial"/>
              </a:rPr>
              <a:t>Tests + image scan</a:t>
            </a:r>
          </a:p>
        </p:txBody>
      </p:sp>
      <p:sp>
        <p:nvSpPr>
          <p:cNvPr id="10" name="">
            <a:extLst xmlns:a="http://schemas.openxmlformats.org/drawingml/2006/main">
              <a:ext uri="{FF2B5EF4-FFF2-40B4-BE49-F238E27FC236}">
                <a16:creationId xmlns:a16="http://schemas.microsoft.com/office/drawing/2014/main" id="{7CFF2712-BE40-4D66-9E5D-CA10FBFE748F}"/>
              </a:ext>
            </a:extLst>
          </p:cNvPr>
          <p:cNvSpPr>
            <a:spLocks xmlns:a="http://schemas.openxmlformats.org/drawingml/2006/main" noGrp="1"/>
          </p:cNvSpPr>
          <p:nvPr/>
        </p:nvSpPr>
        <p:spPr>
          <a:xfrm xmlns:a="http://schemas.openxmlformats.org/drawingml/2006/main">
            <a:off x="647700" y="4362450"/>
            <a:ext cx="238125" cy="238125"/>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5D09968-2C30-4EDB-B2B5-D4E63875B860}"/>
              </a:ext>
            </a:extLst>
          </p:cNvPr>
          <p:cNvSpPr>
            <a:spLocks xmlns:a="http://schemas.openxmlformats.org/drawingml/2006/main" noGrp="1"/>
          </p:cNvSpPr>
          <p:nvPr/>
        </p:nvSpPr>
        <p:spPr>
          <a:xfrm xmlns:a="http://schemas.openxmlformats.org/drawingml/2006/main">
            <a:off x="1047750" y="43434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9ED9D2"/>
                </a:solidFill>
                <a:latin typeface="Arial"/>
                <a:ea typeface="Arial"/>
                <a:cs typeface="Arial"/>
              </a:defRPr>
            </a:defPPr>
          </a:lstStyle>
          <a:p xmlns:a="http://schemas.openxmlformats.org/drawingml/2006/main">
            <a:pPr algn="l">
              <a:lnSpc>
                <a:spcPct val="100000"/>
              </a:lnSpc>
              <a:buNone/>
              <a:defRPr sz="900" b="1">
                <a:solidFill>
                  <a:srgbClr val="9ED9D2"/>
                </a:solidFill>
                <a:latin typeface="Arial"/>
                <a:ea typeface="Arial"/>
                <a:cs typeface="Arial"/>
              </a:defRPr>
            </a:pPr>
            <a:r>
              <a:rPr sz="900" b="1">
                <a:solidFill>
                  <a:srgbClr val="9ED9D2"/>
                </a:solidFill>
                <a:latin typeface="Arial"/>
                <a:ea typeface="Arial"/>
                <a:cs typeface="Arial"/>
              </a:rPr>
              <a:t>PUBLISH</a:t>
            </a:r>
          </a:p>
        </p:txBody>
      </p:sp>
      <p:sp>
        <p:nvSpPr>
          <p:cNvPr id="12" name="">
            <a:extLst xmlns:a="http://schemas.openxmlformats.org/drawingml/2006/main">
              <a:ext uri="{FF2B5EF4-FFF2-40B4-BE49-F238E27FC236}">
                <a16:creationId xmlns:a16="http://schemas.microsoft.com/office/drawing/2014/main" id="{D0DF3625-DA96-4FB1-990D-6834371154C0}"/>
              </a:ext>
            </a:extLst>
          </p:cNvPr>
          <p:cNvSpPr>
            <a:spLocks xmlns:a="http://schemas.openxmlformats.org/drawingml/2006/main" noGrp="1"/>
          </p:cNvSpPr>
          <p:nvPr/>
        </p:nvSpPr>
        <p:spPr>
          <a:xfrm xmlns:a="http://schemas.openxmlformats.org/drawingml/2006/main">
            <a:off x="2171700" y="433387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lnSpc>
                <a:spcPct val="100000"/>
              </a:lnSpc>
              <a:buNone/>
              <a:defRPr sz="1275" b="1">
                <a:solidFill>
                  <a:srgbClr val="FFFFFF"/>
                </a:solidFill>
                <a:latin typeface="Arial"/>
                <a:ea typeface="Arial"/>
                <a:cs typeface="Arial"/>
              </a:defRPr>
            </a:pPr>
            <a:r>
              <a:rPr sz="1275" b="1">
                <a:solidFill>
                  <a:srgbClr val="FFFFFF"/>
                </a:solidFill>
                <a:latin typeface="Arial"/>
                <a:ea typeface="Arial"/>
                <a:cs typeface="Arial"/>
              </a:rPr>
              <a:t>Commit-tagged images</a:t>
            </a:r>
          </a:p>
        </p:txBody>
      </p:sp>
      <p:sp>
        <p:nvSpPr>
          <p:cNvPr id="13" name="">
            <a:extLst xmlns:a="http://schemas.openxmlformats.org/drawingml/2006/main">
              <a:ext uri="{FF2B5EF4-FFF2-40B4-BE49-F238E27FC236}">
                <a16:creationId xmlns:a16="http://schemas.microsoft.com/office/drawing/2014/main" id="{2CD376AE-238E-4FA2-B9BE-E38C6F0882E2}"/>
              </a:ext>
            </a:extLst>
          </p:cNvPr>
          <p:cNvSpPr>
            <a:spLocks xmlns:a="http://schemas.openxmlformats.org/drawingml/2006/main" noGrp="1"/>
          </p:cNvSpPr>
          <p:nvPr/>
        </p:nvSpPr>
        <p:spPr>
          <a:xfrm xmlns:a="http://schemas.openxmlformats.org/drawingml/2006/main">
            <a:off x="647700" y="4857750"/>
            <a:ext cx="238125" cy="238125"/>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E7DAA3D-9F67-4B00-B480-A78E69D83156}"/>
              </a:ext>
            </a:extLst>
          </p:cNvPr>
          <p:cNvSpPr>
            <a:spLocks xmlns:a="http://schemas.openxmlformats.org/drawingml/2006/main" noGrp="1"/>
          </p:cNvSpPr>
          <p:nvPr/>
        </p:nvSpPr>
        <p:spPr>
          <a:xfrm xmlns:a="http://schemas.openxmlformats.org/drawingml/2006/main">
            <a:off x="1047750" y="48387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9ED9D2"/>
                </a:solidFill>
                <a:latin typeface="Arial"/>
                <a:ea typeface="Arial"/>
                <a:cs typeface="Arial"/>
              </a:defRPr>
            </a:defPPr>
          </a:lstStyle>
          <a:p xmlns:a="http://schemas.openxmlformats.org/drawingml/2006/main">
            <a:pPr algn="l">
              <a:lnSpc>
                <a:spcPct val="100000"/>
              </a:lnSpc>
              <a:buNone/>
              <a:defRPr sz="900" b="1">
                <a:solidFill>
                  <a:srgbClr val="9ED9D2"/>
                </a:solidFill>
                <a:latin typeface="Arial"/>
                <a:ea typeface="Arial"/>
                <a:cs typeface="Arial"/>
              </a:defRPr>
            </a:pPr>
            <a:r>
              <a:rPr sz="900" b="1">
                <a:solidFill>
                  <a:srgbClr val="9ED9D2"/>
                </a:solidFill>
                <a:latin typeface="Arial"/>
                <a:ea typeface="Arial"/>
                <a:cs typeface="Arial"/>
              </a:rPr>
              <a:t>RECONCILE</a:t>
            </a:r>
          </a:p>
        </p:txBody>
      </p:sp>
      <p:sp>
        <p:nvSpPr>
          <p:cNvPr id="15" name="">
            <a:extLst xmlns:a="http://schemas.openxmlformats.org/drawingml/2006/main">
              <a:ext uri="{FF2B5EF4-FFF2-40B4-BE49-F238E27FC236}">
                <a16:creationId xmlns:a16="http://schemas.microsoft.com/office/drawing/2014/main" id="{9AB68BE0-225B-4862-A694-B53A9A9F3035}"/>
              </a:ext>
            </a:extLst>
          </p:cNvPr>
          <p:cNvSpPr>
            <a:spLocks xmlns:a="http://schemas.openxmlformats.org/drawingml/2006/main" noGrp="1"/>
          </p:cNvSpPr>
          <p:nvPr/>
        </p:nvSpPr>
        <p:spPr>
          <a:xfrm xmlns:a="http://schemas.openxmlformats.org/drawingml/2006/main">
            <a:off x="2171700" y="482917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lnSpc>
                <a:spcPct val="100000"/>
              </a:lnSpc>
              <a:buNone/>
              <a:defRPr sz="1275" b="1">
                <a:solidFill>
                  <a:srgbClr val="FFFFFF"/>
                </a:solidFill>
                <a:latin typeface="Arial"/>
                <a:ea typeface="Arial"/>
                <a:cs typeface="Arial"/>
              </a:defRPr>
            </a:pPr>
            <a:r>
              <a:rPr sz="1275" b="1">
                <a:solidFill>
                  <a:srgbClr val="FFFFFF"/>
                </a:solidFill>
                <a:latin typeface="Arial"/>
                <a:ea typeface="Arial"/>
                <a:cs typeface="Arial"/>
              </a:rPr>
              <a:t>Argo CD → EKS</a:t>
            </a:r>
          </a:p>
        </p:txBody>
      </p:sp>
      <p:sp>
        <p:nvSpPr>
          <p:cNvPr id="16" name="">
            <a:extLst xmlns:a="http://schemas.openxmlformats.org/drawingml/2006/main">
              <a:ext uri="{FF2B5EF4-FFF2-40B4-BE49-F238E27FC236}">
                <a16:creationId xmlns:a16="http://schemas.microsoft.com/office/drawing/2014/main" id="{8D71E2BA-09D1-4285-8097-A6B02ADF2D95}"/>
              </a:ext>
            </a:extLst>
          </p:cNvPr>
          <p:cNvSpPr>
            <a:spLocks xmlns:a="http://schemas.openxmlformats.org/drawingml/2006/main" noGrp="1"/>
          </p:cNvSpPr>
          <p:nvPr/>
        </p:nvSpPr>
        <p:spPr>
          <a:xfrm xmlns:a="http://schemas.openxmlformats.org/drawingml/2006/main">
            <a:off x="647700" y="5353050"/>
            <a:ext cx="238125" cy="238125"/>
          </a:xfrm>
          <a:prstGeom xmlns:a="http://schemas.openxmlformats.org/drawingml/2006/main" prst="ellipse">
            <a:avLst/>
          </a:prstGeom>
          <a:solidFill xmlns:a="http://schemas.openxmlformats.org/drawingml/2006/main">
            <a:srgbClr val="E9A54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95A1139-31F4-42B2-A536-47FEE0DB0E6C}"/>
              </a:ext>
            </a:extLst>
          </p:cNvPr>
          <p:cNvSpPr>
            <a:spLocks xmlns:a="http://schemas.openxmlformats.org/drawingml/2006/main" noGrp="1"/>
          </p:cNvSpPr>
          <p:nvPr/>
        </p:nvSpPr>
        <p:spPr>
          <a:xfrm xmlns:a="http://schemas.openxmlformats.org/drawingml/2006/main">
            <a:off x="1047750" y="53340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9ED9D2"/>
                </a:solidFill>
                <a:latin typeface="Arial"/>
                <a:ea typeface="Arial"/>
                <a:cs typeface="Arial"/>
              </a:defRPr>
            </a:defPPr>
          </a:lstStyle>
          <a:p xmlns:a="http://schemas.openxmlformats.org/drawingml/2006/main">
            <a:pPr algn="l">
              <a:lnSpc>
                <a:spcPct val="100000"/>
              </a:lnSpc>
              <a:buNone/>
              <a:defRPr sz="900" b="1">
                <a:solidFill>
                  <a:srgbClr val="9ED9D2"/>
                </a:solidFill>
                <a:latin typeface="Arial"/>
                <a:ea typeface="Arial"/>
                <a:cs typeface="Arial"/>
              </a:defRPr>
            </a:pPr>
            <a:r>
              <a:rPr sz="900" b="1">
                <a:solidFill>
                  <a:srgbClr val="9ED9D2"/>
                </a:solidFill>
                <a:latin typeface="Arial"/>
                <a:ea typeface="Arial"/>
                <a:cs typeface="Arial"/>
              </a:rPr>
              <a:t>OBSERVE</a:t>
            </a:r>
          </a:p>
        </p:txBody>
      </p:sp>
      <p:sp>
        <p:nvSpPr>
          <p:cNvPr id="18" name="">
            <a:extLst xmlns:a="http://schemas.openxmlformats.org/drawingml/2006/main">
              <a:ext uri="{FF2B5EF4-FFF2-40B4-BE49-F238E27FC236}">
                <a16:creationId xmlns:a16="http://schemas.microsoft.com/office/drawing/2014/main" id="{98AB9296-8743-4363-A455-0D132F8A2B36}"/>
              </a:ext>
            </a:extLst>
          </p:cNvPr>
          <p:cNvSpPr>
            <a:spLocks xmlns:a="http://schemas.openxmlformats.org/drawingml/2006/main" noGrp="1"/>
          </p:cNvSpPr>
          <p:nvPr/>
        </p:nvSpPr>
        <p:spPr>
          <a:xfrm xmlns:a="http://schemas.openxmlformats.org/drawingml/2006/main">
            <a:off x="2171700" y="532447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lnSpc>
                <a:spcPct val="100000"/>
              </a:lnSpc>
              <a:buNone/>
              <a:defRPr sz="1275" b="1">
                <a:solidFill>
                  <a:srgbClr val="FFFFFF"/>
                </a:solidFill>
                <a:latin typeface="Arial"/>
                <a:ea typeface="Arial"/>
                <a:cs typeface="Arial"/>
              </a:defRPr>
            </a:pPr>
            <a:r>
              <a:rPr sz="1275" b="1">
                <a:solidFill>
                  <a:srgbClr val="FFFFFF"/>
                </a:solidFill>
                <a:latin typeface="Arial"/>
                <a:ea typeface="Arial"/>
                <a:cs typeface="Arial"/>
              </a:rPr>
              <a:t>Prometheus + Grafana</a:t>
            </a:r>
          </a:p>
        </p:txBody>
      </p:sp>
      <p:sp>
        <p:nvSpPr>
          <p:cNvPr id="19" name="">
            <a:extLst xmlns:a="http://schemas.openxmlformats.org/drawingml/2006/main">
              <a:ext uri="{FF2B5EF4-FFF2-40B4-BE49-F238E27FC236}">
                <a16:creationId xmlns:a16="http://schemas.microsoft.com/office/drawing/2014/main" id="{045F1CCA-3427-40CE-9C80-258BE47C59CB}"/>
              </a:ext>
            </a:extLst>
          </p:cNvPr>
          <p:cNvSpPr>
            <a:spLocks xmlns:a="http://schemas.openxmlformats.org/drawingml/2006/main" noGrp="1"/>
          </p:cNvSpPr>
          <p:nvPr/>
        </p:nvSpPr>
        <p:spPr>
          <a:xfrm xmlns:a="http://schemas.openxmlformats.org/drawingml/2006/main">
            <a:off x="7086600" y="1057275"/>
            <a:ext cx="4457700" cy="3886200"/>
          </a:xfrm>
          <a:prstGeom xmlns:a="http://schemas.openxmlformats.org/drawingml/2006/main" prst="roundRect">
            <a:avLst>
              <a:gd name="adj" fmla="val 1961"/>
            </a:avLst>
          </a:prstGeom>
          <a:solidFill xmlns:a="http://schemas.openxmlformats.org/drawingml/2006/main">
            <a:srgbClr val="234454"/>
          </a:solidFill>
          <a:ln xmlns:a="http://schemas.openxmlformats.org/drawingml/2006/main" w="9525">
            <a:solidFill>
              <a:srgbClr val="486474"/>
            </a:solidFill>
            <a:prstDash val="solid"/>
          </a:ln>
        </p:spPr>
      </p:sp>
      <p:sp>
        <p:nvSpPr>
          <p:cNvPr id="20" name="">
            <a:extLst xmlns:a="http://schemas.openxmlformats.org/drawingml/2006/main">
              <a:ext uri="{FF2B5EF4-FFF2-40B4-BE49-F238E27FC236}">
                <a16:creationId xmlns:a16="http://schemas.microsoft.com/office/drawing/2014/main" id="{AE934EA3-E28E-4361-8BBD-C0EAA8819F20}"/>
              </a:ext>
            </a:extLst>
          </p:cNvPr>
          <p:cNvSpPr>
            <a:spLocks xmlns:a="http://schemas.openxmlformats.org/drawingml/2006/main" noGrp="1"/>
          </p:cNvSpPr>
          <p:nvPr/>
        </p:nvSpPr>
        <p:spPr>
          <a:xfrm xmlns:a="http://schemas.openxmlformats.org/drawingml/2006/main">
            <a:off x="7410450" y="1362075"/>
            <a:ext cx="3752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1">
                <a:solidFill>
                  <a:srgbClr val="FFFFFF"/>
                </a:solidFill>
                <a:latin typeface="Arial"/>
                <a:ea typeface="Arial"/>
                <a:cs typeface="Arial"/>
              </a:defRPr>
            </a:defPPr>
          </a:lstStyle>
          <a:p xmlns:a="http://schemas.openxmlformats.org/drawingml/2006/main">
            <a:pPr algn="l">
              <a:lnSpc>
                <a:spcPct val="100000"/>
              </a:lnSpc>
              <a:buNone/>
              <a:defRPr sz="1800" b="1">
                <a:solidFill>
                  <a:srgbClr val="FFFFFF"/>
                </a:solidFill>
                <a:latin typeface="Arial"/>
                <a:ea typeface="Arial"/>
                <a:cs typeface="Arial"/>
              </a:defRPr>
            </a:pPr>
            <a:r>
              <a:rPr sz="1800" b="1">
                <a:solidFill>
                  <a:srgbClr val="FFFFFF"/>
                </a:solidFill>
                <a:latin typeface="Arial"/>
                <a:ea typeface="Arial"/>
                <a:cs typeface="Arial"/>
              </a:rPr>
              <a:t>What the evidence says</a:t>
            </a:r>
          </a:p>
        </p:txBody>
      </p:sp>
      <p:sp>
        <p:nvSpPr>
          <p:cNvPr id="21" name="">
            <a:extLst xmlns:a="http://schemas.openxmlformats.org/drawingml/2006/main">
              <a:ext uri="{FF2B5EF4-FFF2-40B4-BE49-F238E27FC236}">
                <a16:creationId xmlns:a16="http://schemas.microsoft.com/office/drawing/2014/main" id="{34727848-B4DD-4BE3-9EF6-C94297F5F3F3}"/>
              </a:ext>
            </a:extLst>
          </p:cNvPr>
          <p:cNvSpPr>
            <a:spLocks xmlns:a="http://schemas.openxmlformats.org/drawingml/2006/main" noGrp="1"/>
          </p:cNvSpPr>
          <p:nvPr/>
        </p:nvSpPr>
        <p:spPr>
          <a:xfrm xmlns:a="http://schemas.openxmlformats.org/drawingml/2006/main">
            <a:off x="7429500" y="2009775"/>
            <a:ext cx="85725" cy="85725"/>
          </a:xfrm>
          <a:prstGeom xmlns:a="http://schemas.openxmlformats.org/drawingml/2006/main" prst="ellipse">
            <a:avLst/>
          </a:prstGeom>
          <a:solidFill xmlns:a="http://schemas.openxmlformats.org/drawingml/2006/main">
            <a:srgbClr val="9ED9D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B42036E-6EE3-4174-8EE8-BBAA2AC0B48D}"/>
              </a:ext>
            </a:extLst>
          </p:cNvPr>
          <p:cNvSpPr>
            <a:spLocks xmlns:a="http://schemas.openxmlformats.org/drawingml/2006/main" noGrp="1"/>
          </p:cNvSpPr>
          <p:nvPr/>
        </p:nvSpPr>
        <p:spPr>
          <a:xfrm xmlns:a="http://schemas.openxmlformats.org/drawingml/2006/main">
            <a:off x="7629525" y="1952625"/>
            <a:ext cx="3571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E4ECEC"/>
                </a:solidFill>
                <a:latin typeface="Arial"/>
                <a:ea typeface="Arial"/>
                <a:cs typeface="Arial"/>
              </a:defRPr>
            </a:defPPr>
          </a:lstStyle>
          <a:p xmlns:a="http://schemas.openxmlformats.org/drawingml/2006/main">
            <a:pPr algn="l">
              <a:lnSpc>
                <a:spcPct val="100000"/>
              </a:lnSpc>
              <a:buNone/>
              <a:defRPr sz="1125" b="0">
                <a:solidFill>
                  <a:srgbClr val="E4ECEC"/>
                </a:solidFill>
                <a:latin typeface="Arial"/>
                <a:ea typeface="Arial"/>
                <a:cs typeface="Arial"/>
              </a:defRPr>
            </a:pPr>
            <a:r>
              <a:rPr sz="1125" b="0">
                <a:solidFill>
                  <a:srgbClr val="E4ECEC"/>
                </a:solidFill>
                <a:latin typeface="Arial"/>
                <a:ea typeface="Arial"/>
                <a:cs typeface="Arial"/>
              </a:rPr>
              <a:t>CI test and image-scan/publish jobs passed.</a:t>
            </a:r>
          </a:p>
        </p:txBody>
      </p:sp>
      <p:sp>
        <p:nvSpPr>
          <p:cNvPr id="23" name="">
            <a:extLst xmlns:a="http://schemas.openxmlformats.org/drawingml/2006/main">
              <a:ext uri="{FF2B5EF4-FFF2-40B4-BE49-F238E27FC236}">
                <a16:creationId xmlns:a16="http://schemas.microsoft.com/office/drawing/2014/main" id="{3A5EB53F-D343-4988-909C-43D3B56DC94E}"/>
              </a:ext>
            </a:extLst>
          </p:cNvPr>
          <p:cNvSpPr>
            <a:spLocks xmlns:a="http://schemas.openxmlformats.org/drawingml/2006/main" noGrp="1"/>
          </p:cNvSpPr>
          <p:nvPr/>
        </p:nvSpPr>
        <p:spPr>
          <a:xfrm xmlns:a="http://schemas.openxmlformats.org/drawingml/2006/main">
            <a:off x="7429500" y="2543175"/>
            <a:ext cx="85725" cy="85725"/>
          </a:xfrm>
          <a:prstGeom xmlns:a="http://schemas.openxmlformats.org/drawingml/2006/main" prst="ellipse">
            <a:avLst/>
          </a:prstGeom>
          <a:solidFill xmlns:a="http://schemas.openxmlformats.org/drawingml/2006/main">
            <a:srgbClr val="9ED9D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B99FB1D-5355-4789-833F-695748DBD53F}"/>
              </a:ext>
            </a:extLst>
          </p:cNvPr>
          <p:cNvSpPr>
            <a:spLocks xmlns:a="http://schemas.openxmlformats.org/drawingml/2006/main" noGrp="1"/>
          </p:cNvSpPr>
          <p:nvPr/>
        </p:nvSpPr>
        <p:spPr>
          <a:xfrm xmlns:a="http://schemas.openxmlformats.org/drawingml/2006/main">
            <a:off x="7629525" y="2486025"/>
            <a:ext cx="3571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E4ECEC"/>
                </a:solidFill>
                <a:latin typeface="Arial"/>
                <a:ea typeface="Arial"/>
                <a:cs typeface="Arial"/>
              </a:defRPr>
            </a:defPPr>
          </a:lstStyle>
          <a:p xmlns:a="http://schemas.openxmlformats.org/drawingml/2006/main">
            <a:pPr algn="l">
              <a:lnSpc>
                <a:spcPct val="100000"/>
              </a:lnSpc>
              <a:buNone/>
              <a:defRPr sz="1125" b="0">
                <a:solidFill>
                  <a:srgbClr val="E4ECEC"/>
                </a:solidFill>
                <a:latin typeface="Arial"/>
                <a:ea typeface="Arial"/>
                <a:cs typeface="Arial"/>
              </a:defRPr>
            </a:pPr>
            <a:r>
              <a:rPr sz="1125" b="0">
                <a:solidFill>
                  <a:srgbClr val="E4ECEC"/>
                </a:solidFill>
                <a:latin typeface="Arial"/>
                <a:ea typeface="Arial"/>
                <a:cs typeface="Arial"/>
              </a:rPr>
              <a:t>Argo CD reports Synced and Healthy.</a:t>
            </a:r>
          </a:p>
        </p:txBody>
      </p:sp>
      <p:sp>
        <p:nvSpPr>
          <p:cNvPr id="25" name="">
            <a:extLst xmlns:a="http://schemas.openxmlformats.org/drawingml/2006/main">
              <a:ext uri="{FF2B5EF4-FFF2-40B4-BE49-F238E27FC236}">
                <a16:creationId xmlns:a16="http://schemas.microsoft.com/office/drawing/2014/main" id="{9872E24E-5B65-4696-804D-7BEB0D82ABB0}"/>
              </a:ext>
            </a:extLst>
          </p:cNvPr>
          <p:cNvSpPr>
            <a:spLocks xmlns:a="http://schemas.openxmlformats.org/drawingml/2006/main" noGrp="1"/>
          </p:cNvSpPr>
          <p:nvPr/>
        </p:nvSpPr>
        <p:spPr>
          <a:xfrm xmlns:a="http://schemas.openxmlformats.org/drawingml/2006/main">
            <a:off x="7429500" y="3076575"/>
            <a:ext cx="85725" cy="85725"/>
          </a:xfrm>
          <a:prstGeom xmlns:a="http://schemas.openxmlformats.org/drawingml/2006/main" prst="ellipse">
            <a:avLst/>
          </a:prstGeom>
          <a:solidFill xmlns:a="http://schemas.openxmlformats.org/drawingml/2006/main">
            <a:srgbClr val="9ED9D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4FE1896-66FA-4A54-A648-AADF06D9C474}"/>
              </a:ext>
            </a:extLst>
          </p:cNvPr>
          <p:cNvSpPr>
            <a:spLocks xmlns:a="http://schemas.openxmlformats.org/drawingml/2006/main" noGrp="1"/>
          </p:cNvSpPr>
          <p:nvPr/>
        </p:nvSpPr>
        <p:spPr>
          <a:xfrm xmlns:a="http://schemas.openxmlformats.org/drawingml/2006/main">
            <a:off x="7629525" y="3019425"/>
            <a:ext cx="3571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E4ECEC"/>
                </a:solidFill>
                <a:latin typeface="Arial"/>
                <a:ea typeface="Arial"/>
                <a:cs typeface="Arial"/>
              </a:defRPr>
            </a:defPPr>
          </a:lstStyle>
          <a:p xmlns:a="http://schemas.openxmlformats.org/drawingml/2006/main">
            <a:pPr algn="l">
              <a:lnSpc>
                <a:spcPct val="100000"/>
              </a:lnSpc>
              <a:buNone/>
              <a:defRPr sz="1125" b="0">
                <a:solidFill>
                  <a:srgbClr val="E4ECEC"/>
                </a:solidFill>
                <a:latin typeface="Arial"/>
                <a:ea typeface="Arial"/>
                <a:cs typeface="Arial"/>
              </a:defRPr>
            </a:pPr>
            <a:r>
              <a:rPr sz="1125" b="0">
                <a:solidFill>
                  <a:srgbClr val="E4ECEC"/>
                </a:solidFill>
                <a:latin typeface="Arial"/>
                <a:ea typeface="Arial"/>
                <a:cs typeface="Arial"/>
              </a:rPr>
              <a:t>AWS EKS workloads and gp3 storage are healthy.</a:t>
            </a:r>
          </a:p>
        </p:txBody>
      </p:sp>
      <p:sp>
        <p:nvSpPr>
          <p:cNvPr id="27" name="">
            <a:extLst xmlns:a="http://schemas.openxmlformats.org/drawingml/2006/main">
              <a:ext uri="{FF2B5EF4-FFF2-40B4-BE49-F238E27FC236}">
                <a16:creationId xmlns:a16="http://schemas.microsoft.com/office/drawing/2014/main" id="{25255272-7A9E-4D8D-A913-E441DBD91EAC}"/>
              </a:ext>
            </a:extLst>
          </p:cNvPr>
          <p:cNvSpPr>
            <a:spLocks xmlns:a="http://schemas.openxmlformats.org/drawingml/2006/main" noGrp="1"/>
          </p:cNvSpPr>
          <p:nvPr/>
        </p:nvSpPr>
        <p:spPr>
          <a:xfrm xmlns:a="http://schemas.openxmlformats.org/drawingml/2006/main">
            <a:off x="7429500" y="3609975"/>
            <a:ext cx="85725" cy="85725"/>
          </a:xfrm>
          <a:prstGeom xmlns:a="http://schemas.openxmlformats.org/drawingml/2006/main" prst="ellipse">
            <a:avLst/>
          </a:prstGeom>
          <a:solidFill xmlns:a="http://schemas.openxmlformats.org/drawingml/2006/main">
            <a:srgbClr val="9ED9D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C16A4B7-0F53-4585-A7FB-F828CFF3527F}"/>
              </a:ext>
            </a:extLst>
          </p:cNvPr>
          <p:cNvSpPr>
            <a:spLocks xmlns:a="http://schemas.openxmlformats.org/drawingml/2006/main" noGrp="1"/>
          </p:cNvSpPr>
          <p:nvPr/>
        </p:nvSpPr>
        <p:spPr>
          <a:xfrm xmlns:a="http://schemas.openxmlformats.org/drawingml/2006/main">
            <a:off x="7629525" y="3552825"/>
            <a:ext cx="3571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E4ECEC"/>
                </a:solidFill>
                <a:latin typeface="Arial"/>
                <a:ea typeface="Arial"/>
                <a:cs typeface="Arial"/>
              </a:defRPr>
            </a:defPPr>
          </a:lstStyle>
          <a:p xmlns:a="http://schemas.openxmlformats.org/drawingml/2006/main">
            <a:pPr algn="l">
              <a:lnSpc>
                <a:spcPct val="100000"/>
              </a:lnSpc>
              <a:buNone/>
              <a:defRPr sz="1125" b="0">
                <a:solidFill>
                  <a:srgbClr val="E4ECEC"/>
                </a:solidFill>
                <a:latin typeface="Arial"/>
                <a:ea typeface="Arial"/>
                <a:cs typeface="Arial"/>
              </a:defRPr>
            </a:pPr>
            <a:r>
              <a:rPr sz="1125" b="0">
                <a:solidFill>
                  <a:srgbClr val="E4ECEC"/>
                </a:solidFill>
                <a:latin typeface="Arial"/>
                <a:ea typeface="Arial"/>
                <a:cs typeface="Arial"/>
              </a:rPr>
              <a:t>Monitoring shows traffic and service response.</a:t>
            </a:r>
          </a:p>
        </p:txBody>
      </p:sp>
      <p:sp>
        <p:nvSpPr>
          <p:cNvPr id="29" name="">
            <a:extLst xmlns:a="http://schemas.openxmlformats.org/drawingml/2006/main">
              <a:ext uri="{FF2B5EF4-FFF2-40B4-BE49-F238E27FC236}">
                <a16:creationId xmlns:a16="http://schemas.microsoft.com/office/drawing/2014/main" id="{A5375242-5C2A-4950-B2DD-6CDFC43C0641}"/>
              </a:ext>
            </a:extLst>
          </p:cNvPr>
          <p:cNvSpPr>
            <a:spLocks xmlns:a="http://schemas.openxmlformats.org/drawingml/2006/main" noGrp="1"/>
          </p:cNvSpPr>
          <p:nvPr/>
        </p:nvSpPr>
        <p:spPr>
          <a:xfrm xmlns:a="http://schemas.openxmlformats.org/drawingml/2006/main">
            <a:off x="7429500" y="4143375"/>
            <a:ext cx="85725" cy="85725"/>
          </a:xfrm>
          <a:prstGeom xmlns:a="http://schemas.openxmlformats.org/drawingml/2006/main" prst="ellipse">
            <a:avLst/>
          </a:prstGeom>
          <a:solidFill xmlns:a="http://schemas.openxmlformats.org/drawingml/2006/main">
            <a:srgbClr val="E9A54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A0E707F-AECB-4294-B39D-14A2DC41D318}"/>
              </a:ext>
            </a:extLst>
          </p:cNvPr>
          <p:cNvSpPr>
            <a:spLocks xmlns:a="http://schemas.openxmlformats.org/drawingml/2006/main" noGrp="1"/>
          </p:cNvSpPr>
          <p:nvPr/>
        </p:nvSpPr>
        <p:spPr>
          <a:xfrm xmlns:a="http://schemas.openxmlformats.org/drawingml/2006/main">
            <a:off x="7629525" y="4086225"/>
            <a:ext cx="3571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E4ECEC"/>
                </a:solidFill>
                <a:latin typeface="Arial"/>
                <a:ea typeface="Arial"/>
                <a:cs typeface="Arial"/>
              </a:defRPr>
            </a:defPPr>
          </a:lstStyle>
          <a:p xmlns:a="http://schemas.openxmlformats.org/drawingml/2006/main">
            <a:pPr algn="l">
              <a:lnSpc>
                <a:spcPct val="100000"/>
              </a:lnSpc>
              <a:buNone/>
              <a:defRPr sz="1125" b="0">
                <a:solidFill>
                  <a:srgbClr val="E4ECEC"/>
                </a:solidFill>
                <a:latin typeface="Arial"/>
                <a:ea typeface="Arial"/>
                <a:cs typeface="Arial"/>
              </a:defRPr>
            </a:pPr>
            <a:r>
              <a:rPr sz="1125" b="0">
                <a:solidFill>
                  <a:srgbClr val="E4ECEC"/>
                </a:solidFill>
                <a:latin typeface="Arial"/>
                <a:ea typeface="Arial"/>
                <a:cs typeface="Arial"/>
              </a:rPr>
              <a:t>The Actions deploy-aws job was skipped; it is not claimed as a passing step.</a:t>
            </a:r>
          </a:p>
        </p:txBody>
      </p:sp>
      <p:sp>
        <p:nvSpPr>
          <p:cNvPr id="31" name="">
            <a:extLst xmlns:a="http://schemas.openxmlformats.org/drawingml/2006/main">
              <a:ext uri="{FF2B5EF4-FFF2-40B4-BE49-F238E27FC236}">
                <a16:creationId xmlns:a16="http://schemas.microsoft.com/office/drawing/2014/main" id="{DF822A7D-0142-4691-A50F-A03B05B6780D}"/>
              </a:ext>
            </a:extLst>
          </p:cNvPr>
          <p:cNvSpPr>
            <a:spLocks xmlns:a="http://schemas.openxmlformats.org/drawingml/2006/main" noGrp="1"/>
          </p:cNvSpPr>
          <p:nvPr/>
        </p:nvSpPr>
        <p:spPr>
          <a:xfrm xmlns:a="http://schemas.openxmlformats.org/drawingml/2006/main">
            <a:off x="609600" y="5734050"/>
            <a:ext cx="10934700" cy="9525"/>
          </a:xfrm>
          <a:prstGeom xmlns:a="http://schemas.openxmlformats.org/drawingml/2006/main" prst="rect">
            <a:avLst/>
          </a:prstGeom>
          <a:solidFill xmlns:a="http://schemas.openxmlformats.org/drawingml/2006/main">
            <a:srgbClr val="48647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FCE2FC9-7013-4FC6-97BE-049B05C1EB55}"/>
              </a:ext>
            </a:extLst>
          </p:cNvPr>
          <p:cNvSpPr>
            <a:spLocks xmlns:a="http://schemas.openxmlformats.org/drawingml/2006/main" noGrp="1"/>
          </p:cNvSpPr>
          <p:nvPr/>
        </p:nvSpPr>
        <p:spPr>
          <a:xfrm xmlns:a="http://schemas.openxmlformats.org/drawingml/2006/main">
            <a:off x="609600" y="5905500"/>
            <a:ext cx="1093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F0C47D"/>
                </a:solidFill>
                <a:latin typeface="Arial"/>
                <a:ea typeface="Arial"/>
                <a:cs typeface="Arial"/>
              </a:defRPr>
            </a:defPPr>
          </a:lstStyle>
          <a:p xmlns:a="http://schemas.openxmlformats.org/drawingml/2006/main">
            <a:pPr algn="l">
              <a:lnSpc>
                <a:spcPct val="100000"/>
              </a:lnSpc>
              <a:buNone/>
              <a:defRPr sz="1125" b="1">
                <a:solidFill>
                  <a:srgbClr val="F0C47D"/>
                </a:solidFill>
                <a:latin typeface="Arial"/>
                <a:ea typeface="Arial"/>
                <a:cs typeface="Arial"/>
              </a:defRPr>
            </a:pPr>
            <a:r>
              <a:rPr sz="1125" b="1">
                <a:solidFill>
                  <a:srgbClr val="F0C47D"/>
                </a:solidFill>
                <a:latin typeface="Arial"/>
                <a:ea typeface="Arial"/>
                <a:cs typeface="Arial"/>
              </a:rPr>
              <a:t>After screenshots and recording: destroy the temporary AWS stack, then verify the cluster, load balancer, NAT gateway and storage are gone.</a:t>
            </a:r>
          </a:p>
        </p:txBody>
      </p:sp>
      <p:sp>
        <p:nvSpPr>
          <p:cNvPr id="33" name="">
            <a:extLst xmlns:a="http://schemas.openxmlformats.org/drawingml/2006/main">
              <a:ext uri="{FF2B5EF4-FFF2-40B4-BE49-F238E27FC236}">
                <a16:creationId xmlns:a16="http://schemas.microsoft.com/office/drawing/2014/main" id="{981F5F36-10CA-4C2C-AC54-926A3E9B161D}"/>
              </a:ext>
            </a:extLst>
          </p:cNvPr>
          <p:cNvSpPr>
            <a:spLocks xmlns:a="http://schemas.openxmlformats.org/drawingml/2006/main" noGrp="1"/>
          </p:cNvSpPr>
          <p:nvPr/>
        </p:nvSpPr>
        <p:spPr>
          <a:xfrm xmlns:a="http://schemas.openxmlformats.org/drawingml/2006/main">
            <a:off x="6096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AEC0C4"/>
                </a:solidFill>
                <a:latin typeface="Arial"/>
                <a:ea typeface="Arial"/>
                <a:cs typeface="Arial"/>
              </a:defRPr>
            </a:defPPr>
          </a:lstStyle>
          <a:p xmlns:a="http://schemas.openxmlformats.org/drawingml/2006/main">
            <a:pPr algn="l">
              <a:lnSpc>
                <a:spcPct val="100000"/>
              </a:lnSpc>
              <a:buNone/>
              <a:defRPr sz="825" b="1">
                <a:solidFill>
                  <a:srgbClr val="AEC0C4"/>
                </a:solidFill>
                <a:latin typeface="Arial"/>
                <a:ea typeface="Arial"/>
                <a:cs typeface="Arial"/>
              </a:defRPr>
            </a:pPr>
            <a:r>
              <a:rPr sz="825" b="1">
                <a:solidFill>
                  <a:srgbClr val="AEC0C4"/>
                </a:solidFill>
                <a:latin typeface="Arial"/>
                <a:ea typeface="Arial"/>
                <a:cs typeface="Arial"/>
              </a:rPr>
              <a:t>STOCKPILOT  •  DEVOPS CAPSTONE</a:t>
            </a:r>
          </a:p>
        </p:txBody>
      </p:sp>
      <p:sp>
        <p:nvSpPr>
          <p:cNvPr id="34" name="">
            <a:extLst xmlns:a="http://schemas.openxmlformats.org/drawingml/2006/main">
              <a:ext uri="{FF2B5EF4-FFF2-40B4-BE49-F238E27FC236}">
                <a16:creationId xmlns:a16="http://schemas.microsoft.com/office/drawing/2014/main" id="{39530233-A204-4339-A871-80F7CED63688}"/>
              </a:ext>
            </a:extLst>
          </p:cNvPr>
          <p:cNvSpPr>
            <a:spLocks xmlns:a="http://schemas.openxmlformats.org/drawingml/2006/main" noGrp="1"/>
          </p:cNvSpPr>
          <p:nvPr/>
        </p:nvSpPr>
        <p:spPr>
          <a:xfrm xmlns:a="http://schemas.openxmlformats.org/drawingml/2006/main">
            <a:off x="11096625" y="64770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AEC0C4"/>
                </a:solidFill>
                <a:latin typeface="Arial"/>
                <a:ea typeface="Arial"/>
                <a:cs typeface="Arial"/>
              </a:defRPr>
            </a:defPPr>
          </a:lstStyle>
          <a:p xmlns:a="http://schemas.openxmlformats.org/drawingml/2006/main">
            <a:pPr algn="r">
              <a:lnSpc>
                <a:spcPct val="100000"/>
              </a:lnSpc>
              <a:buNone/>
              <a:defRPr sz="825" b="1">
                <a:solidFill>
                  <a:srgbClr val="AEC0C4"/>
                </a:solidFill>
                <a:latin typeface="Arial"/>
                <a:ea typeface="Arial"/>
                <a:cs typeface="Arial"/>
              </a:defRPr>
            </a:pPr>
            <a:r>
              <a:rPr sz="825" b="1">
                <a:solidFill>
                  <a:srgbClr val="AEC0C4"/>
                </a:solidFill>
                <a:latin typeface="Arial"/>
                <a:ea typeface="Arial"/>
                <a:cs typeface="Arial"/>
              </a:rPr>
              <a:t>08</a:t>
            </a:r>
          </a:p>
        </p:txBody>
      </p:sp>
    </p:spTree>
    <p:extLst>
      <p:ext uri="{BB962C8B-B14F-4D97-AF65-F5344CB8AC3E}">
        <p14:creationId xmlns:p14="http://schemas.microsoft.com/office/powerpoint/2010/main" val="19863174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2026-10-16T21:55:15.8800000Z</dcterms:created>
  <dcterms:modified xsi:type="dcterms:W3CDTF">2026-10-16T21:55:15.8800000Z</dcterms:modified>
</coreProperties>
</file>